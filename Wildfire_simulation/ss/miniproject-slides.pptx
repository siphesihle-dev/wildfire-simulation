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png" ContentType="image/png"/>
  <Override PartName="/ppt/slides/slide5.xml" ContentType="application/vnd.openxmlformats-officedocument.presentationml.slide+xml"/>
  <Default Extension="jpg" ContentType="image/jpg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50" b="0" i="0">
                <a:solidFill>
                  <a:srgbClr val="1C5956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rgbClr val="115652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50" b="0" i="0">
                <a:solidFill>
                  <a:srgbClr val="1C5956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rgbClr val="115652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50" b="0" i="0">
                <a:solidFill>
                  <a:srgbClr val="1C5956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50" b="0" i="0">
                <a:solidFill>
                  <a:srgbClr val="1C5956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58207" y="621109"/>
            <a:ext cx="4971584" cy="5194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50" b="0" i="0">
                <a:solidFill>
                  <a:srgbClr val="1C5956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21272" y="3914639"/>
            <a:ext cx="17085945" cy="25520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rgbClr val="115652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1110" y="2420675"/>
            <a:ext cx="15346044" cy="896619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5700" spc="-160">
                <a:solidFill>
                  <a:srgbClr val="115652"/>
                </a:solidFill>
                <a:latin typeface="Arial MT"/>
                <a:cs typeface="Arial MT"/>
              </a:rPr>
              <a:t>Graph-</a:t>
            </a:r>
            <a:r>
              <a:rPr dirty="0" sz="5700" spc="-35">
                <a:solidFill>
                  <a:srgbClr val="115652"/>
                </a:solidFill>
                <a:latin typeface="Arial MT"/>
                <a:cs typeface="Arial MT"/>
              </a:rPr>
              <a:t>Based</a:t>
            </a:r>
            <a:r>
              <a:rPr dirty="0" sz="5700" spc="16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5700">
                <a:solidFill>
                  <a:srgbClr val="115652"/>
                </a:solidFill>
                <a:latin typeface="Arial MT"/>
                <a:cs typeface="Arial MT"/>
              </a:rPr>
              <a:t>Wildfire</a:t>
            </a:r>
            <a:r>
              <a:rPr dirty="0" sz="5700" spc="-30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5700" spc="-130">
                <a:solidFill>
                  <a:srgbClr val="115652"/>
                </a:solidFill>
                <a:latin typeface="Arial MT"/>
                <a:cs typeface="Arial MT"/>
              </a:rPr>
              <a:t>Spread</a:t>
            </a:r>
            <a:r>
              <a:rPr dirty="0" sz="5700" spc="-229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5700">
                <a:solidFill>
                  <a:srgbClr val="115652"/>
                </a:solidFill>
                <a:latin typeface="Arial MT"/>
                <a:cs typeface="Arial MT"/>
              </a:rPr>
              <a:t>Simulation</a:t>
            </a:r>
            <a:r>
              <a:rPr dirty="0" sz="5700" spc="-10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5700" spc="-50">
                <a:solidFill>
                  <a:srgbClr val="115652"/>
                </a:solidFill>
                <a:latin typeface="Arial MT"/>
                <a:cs typeface="Arial MT"/>
              </a:rPr>
              <a:t>System</a:t>
            </a:r>
            <a:endParaRPr sz="570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08431" y="3876650"/>
            <a:ext cx="11399520" cy="449834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7780">
              <a:lnSpc>
                <a:spcPct val="100000"/>
              </a:lnSpc>
              <a:spcBef>
                <a:spcPts val="125"/>
              </a:spcBef>
            </a:pPr>
            <a:r>
              <a:rPr dirty="0" sz="2100">
                <a:solidFill>
                  <a:srgbClr val="115652"/>
                </a:solidFill>
                <a:latin typeface="Arial MT"/>
                <a:cs typeface="Arial MT"/>
              </a:rPr>
              <a:t>A</a:t>
            </a:r>
            <a:r>
              <a:rPr dirty="0" sz="2100" spc="19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00" spc="50">
                <a:solidFill>
                  <a:srgbClr val="115652"/>
                </a:solidFill>
                <a:latin typeface="Arial MT"/>
                <a:cs typeface="Arial MT"/>
              </a:rPr>
              <a:t>Desktop</a:t>
            </a:r>
            <a:r>
              <a:rPr dirty="0" sz="2100" spc="37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00" spc="50">
                <a:solidFill>
                  <a:srgbClr val="115652"/>
                </a:solidFill>
                <a:latin typeface="Arial MT"/>
                <a:cs typeface="Arial MT"/>
              </a:rPr>
              <a:t>Application</a:t>
            </a:r>
            <a:r>
              <a:rPr dirty="0" sz="2100" spc="30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00" spc="70">
                <a:solidFill>
                  <a:srgbClr val="115652"/>
                </a:solidFill>
                <a:latin typeface="Arial MT"/>
                <a:cs typeface="Arial MT"/>
              </a:rPr>
              <a:t>for</a:t>
            </a:r>
            <a:r>
              <a:rPr dirty="0" sz="2100" spc="254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00" spc="55">
                <a:solidFill>
                  <a:srgbClr val="286762"/>
                </a:solidFill>
                <a:latin typeface="Arial MT"/>
                <a:cs typeface="Arial MT"/>
              </a:rPr>
              <a:t>Modeling</a:t>
            </a:r>
            <a:r>
              <a:rPr dirty="0" sz="2100" spc="360">
                <a:solidFill>
                  <a:srgbClr val="286762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115652"/>
                </a:solidFill>
                <a:latin typeface="Arial MT"/>
                <a:cs typeface="Arial MT"/>
              </a:rPr>
              <a:t>and</a:t>
            </a:r>
            <a:r>
              <a:rPr dirty="0" sz="2100" spc="22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115652"/>
                </a:solidFill>
                <a:latin typeface="Arial MT"/>
                <a:cs typeface="Arial MT"/>
              </a:rPr>
              <a:t>Visualizing</a:t>
            </a:r>
            <a:r>
              <a:rPr dirty="0" sz="2100" spc="459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00" spc="55">
                <a:solidFill>
                  <a:srgbClr val="115652"/>
                </a:solidFill>
                <a:latin typeface="Arial MT"/>
                <a:cs typeface="Arial MT"/>
              </a:rPr>
              <a:t>Wildfire</a:t>
            </a:r>
            <a:r>
              <a:rPr dirty="0" sz="2100" spc="27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115652"/>
                </a:solidFill>
                <a:latin typeface="Arial MT"/>
                <a:cs typeface="Arial MT"/>
              </a:rPr>
              <a:t>Propagation</a:t>
            </a:r>
            <a:r>
              <a:rPr dirty="0" sz="2100" spc="434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115652"/>
                </a:solidFill>
                <a:latin typeface="Arial MT"/>
                <a:cs typeface="Arial MT"/>
              </a:rPr>
              <a:t>using</a:t>
            </a:r>
            <a:r>
              <a:rPr dirty="0" sz="2100" spc="29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115652"/>
                </a:solidFill>
                <a:latin typeface="Arial MT"/>
                <a:cs typeface="Arial MT"/>
              </a:rPr>
              <a:t>Graph</a:t>
            </a:r>
            <a:r>
              <a:rPr dirty="0" sz="2100" spc="35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00" spc="-25">
                <a:solidFill>
                  <a:srgbClr val="115652"/>
                </a:solidFill>
                <a:latin typeface="Arial MT"/>
                <a:cs typeface="Arial MT"/>
              </a:rPr>
              <a:t>ADT</a:t>
            </a:r>
            <a:endParaRPr sz="2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0"/>
              </a:spcBef>
            </a:pPr>
            <a:endParaRPr sz="2100">
              <a:latin typeface="Arial MT"/>
              <a:cs typeface="Arial MT"/>
            </a:endParaRPr>
          </a:p>
          <a:p>
            <a:pPr marL="19050">
              <a:lnSpc>
                <a:spcPct val="100000"/>
              </a:lnSpc>
            </a:pPr>
            <a:r>
              <a:rPr dirty="0" sz="2200" spc="-20">
                <a:solidFill>
                  <a:srgbClr val="115652"/>
                </a:solidFill>
                <a:latin typeface="Arial MT"/>
                <a:cs typeface="Arial MT"/>
              </a:rPr>
              <a:t>Team</a:t>
            </a:r>
            <a:r>
              <a:rPr dirty="0" sz="2200" spc="-12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 spc="45">
                <a:solidFill>
                  <a:srgbClr val="115652"/>
                </a:solidFill>
                <a:latin typeface="Arial MT"/>
                <a:cs typeface="Arial MT"/>
              </a:rPr>
              <a:t>Members: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85"/>
              </a:spcBef>
            </a:pPr>
            <a:endParaRPr sz="2200">
              <a:latin typeface="Arial MT"/>
              <a:cs typeface="Arial MT"/>
            </a:endParaRPr>
          </a:p>
          <a:p>
            <a:pPr marL="25400">
              <a:lnSpc>
                <a:spcPct val="100000"/>
              </a:lnSpc>
            </a:pPr>
            <a:r>
              <a:rPr dirty="0" sz="2100">
                <a:solidFill>
                  <a:srgbClr val="135754"/>
                </a:solidFill>
                <a:latin typeface="Arial MT"/>
                <a:cs typeface="Arial MT"/>
              </a:rPr>
              <a:t>221003128</a:t>
            </a:r>
            <a:r>
              <a:rPr dirty="0" sz="2100" spc="254">
                <a:solidFill>
                  <a:srgbClr val="135754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115652"/>
                </a:solidFill>
                <a:latin typeface="Arial MT"/>
                <a:cs typeface="Arial MT"/>
              </a:rPr>
              <a:t>TL</a:t>
            </a:r>
            <a:r>
              <a:rPr dirty="0" sz="2100" spc="5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00" spc="-10">
                <a:solidFill>
                  <a:srgbClr val="115652"/>
                </a:solidFill>
                <a:latin typeface="Arial MT"/>
                <a:cs typeface="Arial MT"/>
              </a:rPr>
              <a:t>Ngwenya</a:t>
            </a:r>
            <a:endParaRPr sz="2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50"/>
              </a:spcBef>
            </a:pPr>
            <a:endParaRPr sz="2100">
              <a:latin typeface="Arial MT"/>
              <a:cs typeface="Arial MT"/>
            </a:endParaRPr>
          </a:p>
          <a:p>
            <a:pPr marL="25400">
              <a:lnSpc>
                <a:spcPct val="100000"/>
              </a:lnSpc>
              <a:spcBef>
                <a:spcPts val="5"/>
              </a:spcBef>
            </a:pPr>
            <a:r>
              <a:rPr dirty="0" sz="2100">
                <a:solidFill>
                  <a:srgbClr val="135754"/>
                </a:solidFill>
                <a:latin typeface="Arial MT"/>
                <a:cs typeface="Arial MT"/>
              </a:rPr>
              <a:t>221030546</a:t>
            </a:r>
            <a:r>
              <a:rPr dirty="0" sz="2100" spc="-30">
                <a:solidFill>
                  <a:srgbClr val="135754"/>
                </a:solidFill>
                <a:latin typeface="Arial MT"/>
                <a:cs typeface="Arial MT"/>
              </a:rPr>
              <a:t>  </a:t>
            </a:r>
            <a:r>
              <a:rPr dirty="0" sz="2100">
                <a:solidFill>
                  <a:srgbClr val="115652"/>
                </a:solidFill>
                <a:latin typeface="Arial MT"/>
                <a:cs typeface="Arial MT"/>
              </a:rPr>
              <a:t>NN</a:t>
            </a:r>
            <a:r>
              <a:rPr dirty="0" sz="2100" spc="27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00" spc="40">
                <a:solidFill>
                  <a:srgbClr val="1F605B"/>
                </a:solidFill>
                <a:latin typeface="Arial MT"/>
                <a:cs typeface="Arial MT"/>
              </a:rPr>
              <a:t>Mafoko</a:t>
            </a:r>
            <a:endParaRPr sz="2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45"/>
              </a:spcBef>
            </a:pPr>
            <a:endParaRPr sz="2100">
              <a:latin typeface="Arial MT"/>
              <a:cs typeface="Arial MT"/>
            </a:endParaRPr>
          </a:p>
          <a:p>
            <a:pPr marL="25400">
              <a:lnSpc>
                <a:spcPct val="100000"/>
              </a:lnSpc>
              <a:spcBef>
                <a:spcPts val="5"/>
              </a:spcBef>
            </a:pPr>
            <a:r>
              <a:rPr dirty="0" sz="2100">
                <a:solidFill>
                  <a:srgbClr val="135754"/>
                </a:solidFill>
                <a:latin typeface="Arial MT"/>
                <a:cs typeface="Arial MT"/>
              </a:rPr>
              <a:t>223132416</a:t>
            </a:r>
            <a:r>
              <a:rPr dirty="0" sz="2100" spc="135">
                <a:solidFill>
                  <a:srgbClr val="135754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115652"/>
                </a:solidFill>
                <a:latin typeface="Arial MT"/>
                <a:cs typeface="Arial MT"/>
              </a:rPr>
              <a:t>S</a:t>
            </a:r>
            <a:r>
              <a:rPr dirty="0" sz="2100" spc="-4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00" spc="-10">
                <a:solidFill>
                  <a:srgbClr val="115652"/>
                </a:solidFill>
                <a:latin typeface="Arial MT"/>
                <a:cs typeface="Arial MT"/>
              </a:rPr>
              <a:t>Mnyamana</a:t>
            </a:r>
            <a:endParaRPr sz="2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sz="2100">
              <a:latin typeface="Arial MT"/>
              <a:cs typeface="Arial MT"/>
            </a:endParaRPr>
          </a:p>
          <a:p>
            <a:pPr marL="25400">
              <a:lnSpc>
                <a:spcPct val="100000"/>
              </a:lnSpc>
            </a:pPr>
            <a:r>
              <a:rPr dirty="0" sz="2100">
                <a:solidFill>
                  <a:srgbClr val="135754"/>
                </a:solidFill>
                <a:latin typeface="Arial MT"/>
                <a:cs typeface="Arial MT"/>
              </a:rPr>
              <a:t>222017962</a:t>
            </a:r>
            <a:r>
              <a:rPr dirty="0" sz="2100" spc="400">
                <a:solidFill>
                  <a:srgbClr val="135754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115652"/>
                </a:solidFill>
                <a:latin typeface="Arial MT"/>
                <a:cs typeface="Arial MT"/>
              </a:rPr>
              <a:t>AA</a:t>
            </a:r>
            <a:r>
              <a:rPr dirty="0" sz="2100" spc="24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00" spc="-10">
                <a:solidFill>
                  <a:srgbClr val="115652"/>
                </a:solidFill>
                <a:latin typeface="Arial MT"/>
                <a:cs typeface="Arial MT"/>
              </a:rPr>
              <a:t>Oduwole</a:t>
            </a:r>
            <a:endParaRPr sz="2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0"/>
              </a:spcBef>
            </a:pPr>
            <a:endParaRPr sz="2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2200" spc="70">
                <a:solidFill>
                  <a:srgbClr val="115652"/>
                </a:solidFill>
                <a:latin typeface="Calibri"/>
                <a:cs typeface="Calibri"/>
              </a:rPr>
              <a:t>Computer</a:t>
            </a:r>
            <a:r>
              <a:rPr dirty="0" sz="2200" spc="434">
                <a:solidFill>
                  <a:srgbClr val="115652"/>
                </a:solidFill>
                <a:latin typeface="Calibri"/>
                <a:cs typeface="Calibri"/>
              </a:rPr>
              <a:t> </a:t>
            </a:r>
            <a:r>
              <a:rPr dirty="0" sz="2200" spc="145">
                <a:solidFill>
                  <a:srgbClr val="115652"/>
                </a:solidFill>
                <a:latin typeface="Calibri"/>
                <a:cs typeface="Calibri"/>
              </a:rPr>
              <a:t>Science</a:t>
            </a:r>
            <a:r>
              <a:rPr dirty="0" sz="2200" spc="305">
                <a:solidFill>
                  <a:srgbClr val="115652"/>
                </a:solidFill>
                <a:latin typeface="Calibri"/>
                <a:cs typeface="Calibri"/>
              </a:rPr>
              <a:t> </a:t>
            </a:r>
            <a:r>
              <a:rPr dirty="0" sz="2200" spc="100">
                <a:solidFill>
                  <a:srgbClr val="115652"/>
                </a:solidFill>
                <a:latin typeface="Calibri"/>
                <a:cs typeface="Calibri"/>
              </a:rPr>
              <a:t>3A</a:t>
            </a:r>
            <a:r>
              <a:rPr dirty="0" sz="2200" spc="65">
                <a:solidFill>
                  <a:srgbClr val="115652"/>
                </a:solidFill>
                <a:latin typeface="Calibri"/>
                <a:cs typeface="Calibri"/>
              </a:rPr>
              <a:t> </a:t>
            </a:r>
            <a:r>
              <a:rPr dirty="0" sz="2200" spc="-835">
                <a:solidFill>
                  <a:srgbClr val="4D807E"/>
                </a:solidFill>
                <a:latin typeface="Calibri"/>
                <a:cs typeface="Calibri"/>
              </a:rPr>
              <a:t>—</a:t>
            </a:r>
            <a:r>
              <a:rPr dirty="0" sz="2200" spc="200">
                <a:solidFill>
                  <a:srgbClr val="4D807E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1F605B"/>
                </a:solidFill>
                <a:latin typeface="Calibri"/>
                <a:cs typeface="Calibri"/>
              </a:rPr>
              <a:t>Mini</a:t>
            </a:r>
            <a:r>
              <a:rPr dirty="0" sz="2200" spc="180">
                <a:solidFill>
                  <a:srgbClr val="1F605B"/>
                </a:solidFill>
                <a:latin typeface="Calibri"/>
                <a:cs typeface="Calibri"/>
              </a:rPr>
              <a:t> </a:t>
            </a:r>
            <a:r>
              <a:rPr dirty="0" sz="2200" spc="60">
                <a:solidFill>
                  <a:srgbClr val="115652"/>
                </a:solidFill>
                <a:latin typeface="Calibri"/>
                <a:cs typeface="Calibri"/>
              </a:rPr>
              <a:t>Project,</a:t>
            </a:r>
            <a:r>
              <a:rPr dirty="0" sz="2200" spc="365">
                <a:solidFill>
                  <a:srgbClr val="115652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135754"/>
                </a:solidFill>
                <a:latin typeface="Calibri"/>
                <a:cs typeface="Calibri"/>
              </a:rPr>
              <a:t>May</a:t>
            </a:r>
            <a:r>
              <a:rPr dirty="0" sz="2200" spc="355">
                <a:solidFill>
                  <a:srgbClr val="135754"/>
                </a:solidFill>
                <a:latin typeface="Calibri"/>
                <a:cs typeface="Calibri"/>
              </a:rPr>
              <a:t> </a:t>
            </a:r>
            <a:r>
              <a:rPr dirty="0" sz="2200" spc="105">
                <a:solidFill>
                  <a:srgbClr val="115652"/>
                </a:solidFill>
                <a:latin typeface="Calibri"/>
                <a:cs typeface="Calibri"/>
              </a:rPr>
              <a:t>2026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84582" y="3138262"/>
            <a:ext cx="1015365" cy="2774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" spc="-10">
                <a:solidFill>
                  <a:srgbClr val="115652"/>
                </a:solidFill>
                <a:latin typeface="Arial MT"/>
                <a:cs typeface="Arial MT"/>
              </a:rPr>
              <a:t>CONTEXT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17874" y="3573596"/>
            <a:ext cx="3960495" cy="86106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450">
                <a:solidFill>
                  <a:srgbClr val="115652"/>
                </a:solidFill>
                <a:latin typeface="Arial MT"/>
                <a:cs typeface="Arial MT"/>
              </a:rPr>
              <a:t>The</a:t>
            </a:r>
            <a:r>
              <a:rPr dirty="0" sz="5450" spc="-36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5450" spc="-10">
                <a:solidFill>
                  <a:srgbClr val="115652"/>
                </a:solidFill>
                <a:latin typeface="Arial MT"/>
                <a:cs typeface="Arial MT"/>
              </a:rPr>
              <a:t>Problem</a:t>
            </a:r>
            <a:endParaRPr sz="545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30797" y="4771600"/>
            <a:ext cx="17098010" cy="29876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0320" marR="960755" indent="-8255">
              <a:lnSpc>
                <a:spcPct val="122800"/>
              </a:lnSpc>
              <a:spcBef>
                <a:spcPts val="95"/>
              </a:spcBef>
            </a:pPr>
            <a:r>
              <a:rPr dirty="0" sz="2150">
                <a:solidFill>
                  <a:srgbClr val="165956"/>
                </a:solidFill>
                <a:latin typeface="Arial MT"/>
                <a:cs typeface="Arial MT"/>
              </a:rPr>
              <a:t>Wildfires</a:t>
            </a:r>
            <a:r>
              <a:rPr dirty="0" sz="2150" spc="229">
                <a:solidFill>
                  <a:srgbClr val="165956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115652"/>
                </a:solidFill>
                <a:latin typeface="Arial MT"/>
                <a:cs typeface="Arial MT"/>
              </a:rPr>
              <a:t>are</a:t>
            </a:r>
            <a:r>
              <a:rPr dirty="0" sz="2150" spc="15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115652"/>
                </a:solidFill>
                <a:latin typeface="Arial MT"/>
                <a:cs typeface="Arial MT"/>
              </a:rPr>
              <a:t>a</a:t>
            </a:r>
            <a:r>
              <a:rPr dirty="0" sz="2150" spc="204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115652"/>
                </a:solidFill>
                <a:latin typeface="Arial MT"/>
                <a:cs typeface="Arial MT"/>
              </a:rPr>
              <a:t>major</a:t>
            </a:r>
            <a:r>
              <a:rPr dirty="0" sz="2150" spc="32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115652"/>
                </a:solidFill>
                <a:latin typeface="Arial MT"/>
                <a:cs typeface="Arial MT"/>
              </a:rPr>
              <a:t>environmental</a:t>
            </a:r>
            <a:r>
              <a:rPr dirty="0" sz="2150" spc="41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115652"/>
                </a:solidFill>
                <a:latin typeface="Arial MT"/>
                <a:cs typeface="Arial MT"/>
              </a:rPr>
              <a:t>and</a:t>
            </a:r>
            <a:r>
              <a:rPr dirty="0" sz="2150" spc="14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115652"/>
                </a:solidFill>
                <a:latin typeface="Arial MT"/>
                <a:cs typeface="Arial MT"/>
              </a:rPr>
              <a:t>economic</a:t>
            </a:r>
            <a:r>
              <a:rPr dirty="0" sz="2150" spc="34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115652"/>
                </a:solidFill>
                <a:latin typeface="Arial MT"/>
                <a:cs typeface="Arial MT"/>
              </a:rPr>
              <a:t>threat</a:t>
            </a:r>
            <a:r>
              <a:rPr dirty="0" sz="2150" spc="24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115652"/>
                </a:solidFill>
                <a:latin typeface="Arial MT"/>
                <a:cs typeface="Arial MT"/>
              </a:rPr>
              <a:t>in</a:t>
            </a:r>
            <a:r>
              <a:rPr dirty="0" sz="2150" spc="17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115652"/>
                </a:solidFill>
                <a:latin typeface="Arial MT"/>
                <a:cs typeface="Arial MT"/>
              </a:rPr>
              <a:t>South</a:t>
            </a:r>
            <a:r>
              <a:rPr dirty="0" sz="2150" spc="30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115652"/>
                </a:solidFill>
                <a:latin typeface="Arial MT"/>
                <a:cs typeface="Arial MT"/>
              </a:rPr>
              <a:t>Africa,</a:t>
            </a:r>
            <a:r>
              <a:rPr dirty="0" sz="2150" spc="17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115652"/>
                </a:solidFill>
                <a:latin typeface="Arial MT"/>
                <a:cs typeface="Arial MT"/>
              </a:rPr>
              <a:t>particularly</a:t>
            </a:r>
            <a:r>
              <a:rPr dirty="0" sz="2150" spc="27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115652"/>
                </a:solidFill>
                <a:latin typeface="Arial MT"/>
                <a:cs typeface="Arial MT"/>
              </a:rPr>
              <a:t>in</a:t>
            </a:r>
            <a:r>
              <a:rPr dirty="0" sz="2150" spc="2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115652"/>
                </a:solidFill>
                <a:latin typeface="Arial MT"/>
                <a:cs typeface="Arial MT"/>
              </a:rPr>
              <a:t>the</a:t>
            </a:r>
            <a:r>
              <a:rPr dirty="0" sz="2150" spc="13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115652"/>
                </a:solidFill>
                <a:latin typeface="Arial MT"/>
                <a:cs typeface="Arial MT"/>
              </a:rPr>
              <a:t>Western</a:t>
            </a:r>
            <a:r>
              <a:rPr dirty="0" sz="2150" spc="27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115652"/>
                </a:solidFill>
                <a:latin typeface="Arial MT"/>
                <a:cs typeface="Arial MT"/>
              </a:rPr>
              <a:t>Cape</a:t>
            </a:r>
            <a:r>
              <a:rPr dirty="0" sz="2150" spc="18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115652"/>
                </a:solidFill>
                <a:latin typeface="Arial MT"/>
                <a:cs typeface="Arial MT"/>
              </a:rPr>
              <a:t>region.</a:t>
            </a:r>
            <a:r>
              <a:rPr dirty="0" sz="2150" spc="28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115652"/>
                </a:solidFill>
                <a:latin typeface="Arial MT"/>
                <a:cs typeface="Arial MT"/>
              </a:rPr>
              <a:t>Areas</a:t>
            </a:r>
            <a:r>
              <a:rPr dirty="0" sz="2150" spc="37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2D6B67"/>
                </a:solidFill>
                <a:latin typeface="Arial MT"/>
                <a:cs typeface="Arial MT"/>
              </a:rPr>
              <a:t>with</a:t>
            </a:r>
            <a:r>
              <a:rPr dirty="0" sz="2150" spc="175">
                <a:solidFill>
                  <a:srgbClr val="2D6B67"/>
                </a:solidFill>
                <a:latin typeface="Arial MT"/>
                <a:cs typeface="Arial MT"/>
              </a:rPr>
              <a:t> </a:t>
            </a:r>
            <a:r>
              <a:rPr dirty="0" sz="2150" spc="-25">
                <a:solidFill>
                  <a:srgbClr val="115652"/>
                </a:solidFill>
                <a:latin typeface="Arial MT"/>
                <a:cs typeface="Arial MT"/>
              </a:rPr>
              <a:t>dry </a:t>
            </a:r>
            <a:r>
              <a:rPr dirty="0" sz="2150">
                <a:solidFill>
                  <a:srgbClr val="115652"/>
                </a:solidFill>
                <a:latin typeface="Arial MT"/>
                <a:cs typeface="Arial MT"/>
              </a:rPr>
              <a:t>vegetation</a:t>
            </a:r>
            <a:r>
              <a:rPr dirty="0" sz="2150" spc="34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115652"/>
                </a:solidFill>
                <a:latin typeface="Arial MT"/>
                <a:cs typeface="Arial MT"/>
              </a:rPr>
              <a:t>and</a:t>
            </a:r>
            <a:r>
              <a:rPr dirty="0" sz="2150" spc="27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115652"/>
                </a:solidFill>
                <a:latin typeface="Arial MT"/>
                <a:cs typeface="Arial MT"/>
              </a:rPr>
              <a:t>complex</a:t>
            </a:r>
            <a:r>
              <a:rPr dirty="0" sz="2150" spc="31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115652"/>
                </a:solidFill>
                <a:latin typeface="Arial MT"/>
                <a:cs typeface="Arial MT"/>
              </a:rPr>
              <a:t>terrain</a:t>
            </a:r>
            <a:r>
              <a:rPr dirty="0" sz="2150" spc="26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115652"/>
                </a:solidFill>
                <a:latin typeface="Arial MT"/>
                <a:cs typeface="Arial MT"/>
              </a:rPr>
              <a:t>experience</a:t>
            </a:r>
            <a:r>
              <a:rPr dirty="0" sz="2150" spc="43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115652"/>
                </a:solidFill>
                <a:latin typeface="Arial MT"/>
                <a:cs typeface="Arial MT"/>
              </a:rPr>
              <a:t>rapid</a:t>
            </a:r>
            <a:r>
              <a:rPr dirty="0" sz="2150" spc="25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115652"/>
                </a:solidFill>
                <a:latin typeface="Arial MT"/>
                <a:cs typeface="Arial MT"/>
              </a:rPr>
              <a:t>and</a:t>
            </a:r>
            <a:r>
              <a:rPr dirty="0" sz="2150" spc="21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115652"/>
                </a:solidFill>
                <a:latin typeface="Arial MT"/>
                <a:cs typeface="Arial MT"/>
              </a:rPr>
              <a:t>unpredictable</a:t>
            </a:r>
            <a:r>
              <a:rPr dirty="0" sz="2150" spc="44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115652"/>
                </a:solidFill>
                <a:latin typeface="Arial MT"/>
                <a:cs typeface="Arial MT"/>
              </a:rPr>
              <a:t>fire</a:t>
            </a:r>
            <a:r>
              <a:rPr dirty="0" sz="2150" spc="27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50" spc="-10">
                <a:solidFill>
                  <a:srgbClr val="115652"/>
                </a:solidFill>
                <a:latin typeface="Arial MT"/>
                <a:cs typeface="Arial MT"/>
              </a:rPr>
              <a:t>spread.</a:t>
            </a:r>
            <a:endParaRPr sz="2150">
              <a:latin typeface="Arial MT"/>
              <a:cs typeface="Arial MT"/>
            </a:endParaRPr>
          </a:p>
          <a:p>
            <a:pPr marL="14604" marR="153035" indent="2540">
              <a:lnSpc>
                <a:spcPct val="117900"/>
              </a:lnSpc>
              <a:spcBef>
                <a:spcPts val="2405"/>
              </a:spcBef>
            </a:pPr>
            <a:r>
              <a:rPr dirty="0" sz="2150">
                <a:solidFill>
                  <a:srgbClr val="115652"/>
                </a:solidFill>
                <a:latin typeface="Arial MT"/>
                <a:cs typeface="Arial MT"/>
              </a:rPr>
              <a:t>Traditional</a:t>
            </a:r>
            <a:r>
              <a:rPr dirty="0" sz="2150" spc="434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115652"/>
                </a:solidFill>
                <a:latin typeface="Arial MT"/>
                <a:cs typeface="Arial MT"/>
              </a:rPr>
              <a:t>wildfire</a:t>
            </a:r>
            <a:r>
              <a:rPr dirty="0" sz="2150" spc="32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115652"/>
                </a:solidFill>
                <a:latin typeface="Arial MT"/>
                <a:cs typeface="Arial MT"/>
              </a:rPr>
              <a:t>monitoring</a:t>
            </a:r>
            <a:r>
              <a:rPr dirty="0" sz="2150" spc="37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115652"/>
                </a:solidFill>
                <a:latin typeface="Arial MT"/>
                <a:cs typeface="Arial MT"/>
              </a:rPr>
              <a:t>methods</a:t>
            </a:r>
            <a:r>
              <a:rPr dirty="0" sz="2150" spc="44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115652"/>
                </a:solidFill>
                <a:latin typeface="Arial MT"/>
                <a:cs typeface="Arial MT"/>
              </a:rPr>
              <a:t>are</a:t>
            </a:r>
            <a:r>
              <a:rPr dirty="0" sz="2150" spc="23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115652"/>
                </a:solidFill>
                <a:latin typeface="Arial MT"/>
                <a:cs typeface="Arial MT"/>
              </a:rPr>
              <a:t>often</a:t>
            </a:r>
            <a:r>
              <a:rPr dirty="0" sz="2150" spc="36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115652"/>
                </a:solidFill>
                <a:latin typeface="Arial MT"/>
                <a:cs typeface="Arial MT"/>
              </a:rPr>
              <a:t>slow,</a:t>
            </a:r>
            <a:r>
              <a:rPr dirty="0" sz="2150" spc="33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115652"/>
                </a:solidFill>
                <a:latin typeface="Arial MT"/>
                <a:cs typeface="Arial MT"/>
              </a:rPr>
              <a:t>resource-intensive,</a:t>
            </a:r>
            <a:r>
              <a:rPr dirty="0" sz="2150" spc="24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115652"/>
                </a:solidFill>
                <a:latin typeface="Arial MT"/>
                <a:cs typeface="Arial MT"/>
              </a:rPr>
              <a:t>and</a:t>
            </a:r>
            <a:r>
              <a:rPr dirty="0" sz="2150" spc="22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115652"/>
                </a:solidFill>
                <a:latin typeface="Arial MT"/>
                <a:cs typeface="Arial MT"/>
              </a:rPr>
              <a:t>lack</a:t>
            </a:r>
            <a:r>
              <a:rPr dirty="0" sz="2150" spc="24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115652"/>
                </a:solidFill>
                <a:latin typeface="Arial MT"/>
                <a:cs typeface="Arial MT"/>
              </a:rPr>
              <a:t>the</a:t>
            </a:r>
            <a:r>
              <a:rPr dirty="0" sz="2150" spc="21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115652"/>
                </a:solidFill>
                <a:latin typeface="Arial MT"/>
                <a:cs typeface="Arial MT"/>
              </a:rPr>
              <a:t>ability</a:t>
            </a:r>
            <a:r>
              <a:rPr dirty="0" sz="2150" spc="29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115652"/>
                </a:solidFill>
                <a:latin typeface="Arial MT"/>
                <a:cs typeface="Arial MT"/>
              </a:rPr>
              <a:t>to</a:t>
            </a:r>
            <a:r>
              <a:rPr dirty="0" sz="2150" spc="26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115652"/>
                </a:solidFill>
                <a:latin typeface="Arial MT"/>
                <a:cs typeface="Arial MT"/>
              </a:rPr>
              <a:t>predict</a:t>
            </a:r>
            <a:r>
              <a:rPr dirty="0" sz="2150" spc="34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115652"/>
                </a:solidFill>
                <a:latin typeface="Arial MT"/>
                <a:cs typeface="Arial MT"/>
              </a:rPr>
              <a:t>how</a:t>
            </a:r>
            <a:r>
              <a:rPr dirty="0" sz="2150" spc="32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115652"/>
                </a:solidFill>
                <a:latin typeface="Arial MT"/>
                <a:cs typeface="Arial MT"/>
              </a:rPr>
              <a:t>fire</a:t>
            </a:r>
            <a:r>
              <a:rPr dirty="0" sz="2150" spc="28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115652"/>
                </a:solidFill>
                <a:latin typeface="Arial MT"/>
                <a:cs typeface="Arial MT"/>
              </a:rPr>
              <a:t>will</a:t>
            </a:r>
            <a:r>
              <a:rPr dirty="0" sz="2150" spc="22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115652"/>
                </a:solidFill>
                <a:latin typeface="Arial MT"/>
                <a:cs typeface="Arial MT"/>
              </a:rPr>
              <a:t>propagate</a:t>
            </a:r>
            <a:r>
              <a:rPr dirty="0" sz="2150" spc="33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50" spc="-10">
                <a:solidFill>
                  <a:srgbClr val="115652"/>
                </a:solidFill>
                <a:latin typeface="Arial MT"/>
                <a:cs typeface="Arial MT"/>
              </a:rPr>
              <a:t>across </a:t>
            </a:r>
            <a:r>
              <a:rPr dirty="0" sz="2150">
                <a:solidFill>
                  <a:srgbClr val="115652"/>
                </a:solidFill>
                <a:latin typeface="Arial MT"/>
                <a:cs typeface="Arial MT"/>
              </a:rPr>
              <a:t>different</a:t>
            </a:r>
            <a:r>
              <a:rPr dirty="0" sz="2150" spc="26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50" spc="50">
                <a:solidFill>
                  <a:srgbClr val="115652"/>
                </a:solidFill>
                <a:latin typeface="Arial MT"/>
                <a:cs typeface="Arial MT"/>
              </a:rPr>
              <a:t>types</a:t>
            </a:r>
            <a:r>
              <a:rPr dirty="0" sz="2150" spc="21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115652"/>
                </a:solidFill>
                <a:latin typeface="Arial MT"/>
                <a:cs typeface="Arial MT"/>
              </a:rPr>
              <a:t>of</a:t>
            </a:r>
            <a:r>
              <a:rPr dirty="0" sz="2150" spc="29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115652"/>
                </a:solidFill>
                <a:latin typeface="Arial MT"/>
                <a:cs typeface="Arial MT"/>
              </a:rPr>
              <a:t>terrain</a:t>
            </a:r>
            <a:r>
              <a:rPr dirty="0" sz="2150" spc="29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115652"/>
                </a:solidFill>
                <a:latin typeface="Arial MT"/>
                <a:cs typeface="Arial MT"/>
              </a:rPr>
              <a:t>such</a:t>
            </a:r>
            <a:r>
              <a:rPr dirty="0" sz="2150" spc="21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115652"/>
                </a:solidFill>
                <a:latin typeface="Arial MT"/>
                <a:cs typeface="Arial MT"/>
              </a:rPr>
              <a:t>as</a:t>
            </a:r>
            <a:r>
              <a:rPr dirty="0" sz="2150" spc="16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115652"/>
                </a:solidFill>
                <a:latin typeface="Arial MT"/>
                <a:cs typeface="Arial MT"/>
              </a:rPr>
              <a:t>dry</a:t>
            </a:r>
            <a:r>
              <a:rPr dirty="0" sz="2150" spc="24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115652"/>
                </a:solidFill>
                <a:latin typeface="Arial MT"/>
                <a:cs typeface="Arial MT"/>
              </a:rPr>
              <a:t>grass,</a:t>
            </a:r>
            <a:r>
              <a:rPr dirty="0" sz="2150" spc="23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115652"/>
                </a:solidFill>
                <a:latin typeface="Arial MT"/>
                <a:cs typeface="Arial MT"/>
              </a:rPr>
              <a:t>forest,</a:t>
            </a:r>
            <a:r>
              <a:rPr dirty="0" sz="2150" spc="204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115652"/>
                </a:solidFill>
                <a:latin typeface="Arial MT"/>
                <a:cs typeface="Arial MT"/>
              </a:rPr>
              <a:t>and</a:t>
            </a:r>
            <a:r>
              <a:rPr dirty="0" sz="2150" spc="24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115652"/>
                </a:solidFill>
                <a:latin typeface="Arial MT"/>
                <a:cs typeface="Arial MT"/>
              </a:rPr>
              <a:t>water</a:t>
            </a:r>
            <a:r>
              <a:rPr dirty="0" sz="2150" spc="26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50" spc="-10">
                <a:solidFill>
                  <a:srgbClr val="115652"/>
                </a:solidFill>
                <a:latin typeface="Arial MT"/>
                <a:cs typeface="Arial MT"/>
              </a:rPr>
              <a:t>bodies.</a:t>
            </a:r>
            <a:endParaRPr sz="2150">
              <a:latin typeface="Arial MT"/>
              <a:cs typeface="Arial MT"/>
            </a:endParaRPr>
          </a:p>
          <a:p>
            <a:pPr marL="13335" marR="5080" indent="3175">
              <a:lnSpc>
                <a:spcPct val="117900"/>
              </a:lnSpc>
              <a:spcBef>
                <a:spcPts val="2410"/>
              </a:spcBef>
            </a:pPr>
            <a:r>
              <a:rPr dirty="0" sz="2150">
                <a:solidFill>
                  <a:srgbClr val="115652"/>
                </a:solidFill>
                <a:latin typeface="Arial MT"/>
                <a:cs typeface="Arial MT"/>
              </a:rPr>
              <a:t>There</a:t>
            </a:r>
            <a:r>
              <a:rPr dirty="0" sz="2150" spc="10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115652"/>
                </a:solidFill>
                <a:latin typeface="Arial MT"/>
                <a:cs typeface="Arial MT"/>
              </a:rPr>
              <a:t>is</a:t>
            </a:r>
            <a:r>
              <a:rPr dirty="0" sz="2150" spc="11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115652"/>
                </a:solidFill>
                <a:latin typeface="Arial MT"/>
                <a:cs typeface="Arial MT"/>
              </a:rPr>
              <a:t>a</a:t>
            </a:r>
            <a:r>
              <a:rPr dirty="0" sz="2150" spc="19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115652"/>
                </a:solidFill>
                <a:latin typeface="Arial MT"/>
                <a:cs typeface="Arial MT"/>
              </a:rPr>
              <a:t>clear</a:t>
            </a:r>
            <a:r>
              <a:rPr dirty="0" sz="2150" spc="22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115652"/>
                </a:solidFill>
                <a:latin typeface="Arial MT"/>
                <a:cs typeface="Arial MT"/>
              </a:rPr>
              <a:t>need</a:t>
            </a:r>
            <a:r>
              <a:rPr dirty="0" sz="2150" spc="16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115652"/>
                </a:solidFill>
                <a:latin typeface="Arial MT"/>
                <a:cs typeface="Arial MT"/>
              </a:rPr>
              <a:t>for</a:t>
            </a:r>
            <a:r>
              <a:rPr dirty="0" sz="2150" spc="26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115652"/>
                </a:solidFill>
                <a:latin typeface="Arial MT"/>
                <a:cs typeface="Arial MT"/>
              </a:rPr>
              <a:t>an</a:t>
            </a:r>
            <a:r>
              <a:rPr dirty="0" sz="2150" spc="15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115652"/>
                </a:solidFill>
                <a:latin typeface="Arial MT"/>
                <a:cs typeface="Arial MT"/>
              </a:rPr>
              <a:t>interactive</a:t>
            </a:r>
            <a:r>
              <a:rPr dirty="0" sz="2150" spc="25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115652"/>
                </a:solidFill>
                <a:latin typeface="Arial MT"/>
                <a:cs typeface="Arial MT"/>
              </a:rPr>
              <a:t>system</a:t>
            </a:r>
            <a:r>
              <a:rPr dirty="0" sz="2150" spc="16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115652"/>
                </a:solidFill>
                <a:latin typeface="Arial MT"/>
                <a:cs typeface="Arial MT"/>
              </a:rPr>
              <a:t>that</a:t>
            </a:r>
            <a:r>
              <a:rPr dirty="0" sz="2150" spc="21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115652"/>
                </a:solidFill>
                <a:latin typeface="Arial MT"/>
                <a:cs typeface="Arial MT"/>
              </a:rPr>
              <a:t>can</a:t>
            </a:r>
            <a:r>
              <a:rPr dirty="0" sz="2150" spc="14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115652"/>
                </a:solidFill>
                <a:latin typeface="Arial MT"/>
                <a:cs typeface="Arial MT"/>
              </a:rPr>
              <a:t>analyze</a:t>
            </a:r>
            <a:r>
              <a:rPr dirty="0" sz="2150" spc="23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115652"/>
                </a:solidFill>
                <a:latin typeface="Arial MT"/>
                <a:cs typeface="Arial MT"/>
              </a:rPr>
              <a:t>real</a:t>
            </a:r>
            <a:r>
              <a:rPr dirty="0" sz="2150" spc="12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115652"/>
                </a:solidFill>
                <a:latin typeface="Arial MT"/>
                <a:cs typeface="Arial MT"/>
              </a:rPr>
              <a:t>terrain</a:t>
            </a:r>
            <a:r>
              <a:rPr dirty="0" sz="2150" spc="12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115652"/>
                </a:solidFill>
                <a:latin typeface="Arial MT"/>
                <a:cs typeface="Arial MT"/>
              </a:rPr>
              <a:t>images,</a:t>
            </a:r>
            <a:r>
              <a:rPr dirty="0" sz="2150" spc="24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115652"/>
                </a:solidFill>
                <a:latin typeface="Arial MT"/>
                <a:cs typeface="Arial MT"/>
              </a:rPr>
              <a:t>model</a:t>
            </a:r>
            <a:r>
              <a:rPr dirty="0" sz="2150" spc="14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50" spc="55">
                <a:solidFill>
                  <a:srgbClr val="115652"/>
                </a:solidFill>
                <a:latin typeface="Arial MT"/>
                <a:cs typeface="Arial MT"/>
              </a:rPr>
              <a:t>fire</a:t>
            </a:r>
            <a:r>
              <a:rPr dirty="0" sz="2150" spc="14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115652"/>
                </a:solidFill>
                <a:latin typeface="Arial MT"/>
                <a:cs typeface="Arial MT"/>
              </a:rPr>
              <a:t>spread</a:t>
            </a:r>
            <a:r>
              <a:rPr dirty="0" sz="2150" spc="23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115652"/>
                </a:solidFill>
                <a:latin typeface="Arial MT"/>
                <a:cs typeface="Arial MT"/>
              </a:rPr>
              <a:t>behavior,</a:t>
            </a:r>
            <a:r>
              <a:rPr dirty="0" sz="2150" spc="27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115652"/>
                </a:solidFill>
                <a:latin typeface="Arial MT"/>
                <a:cs typeface="Arial MT"/>
              </a:rPr>
              <a:t>and</a:t>
            </a:r>
            <a:r>
              <a:rPr dirty="0" sz="2150" spc="14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115652"/>
                </a:solidFill>
                <a:latin typeface="Arial MT"/>
                <a:cs typeface="Arial MT"/>
              </a:rPr>
              <a:t>provide</a:t>
            </a:r>
            <a:r>
              <a:rPr dirty="0" sz="2150" spc="18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115652"/>
                </a:solidFill>
                <a:latin typeface="Arial MT"/>
                <a:cs typeface="Arial MT"/>
              </a:rPr>
              <a:t>clear</a:t>
            </a:r>
            <a:r>
              <a:rPr dirty="0" sz="2150" spc="28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50" spc="-10">
                <a:solidFill>
                  <a:srgbClr val="115652"/>
                </a:solidFill>
                <a:latin typeface="Arial MT"/>
                <a:cs typeface="Arial MT"/>
              </a:rPr>
              <a:t>visual </a:t>
            </a:r>
            <a:r>
              <a:rPr dirty="0" sz="2150">
                <a:solidFill>
                  <a:srgbClr val="115652"/>
                </a:solidFill>
                <a:latin typeface="Arial MT"/>
                <a:cs typeface="Arial MT"/>
              </a:rPr>
              <a:t>predictions</a:t>
            </a:r>
            <a:r>
              <a:rPr dirty="0" sz="2150" spc="36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115652"/>
                </a:solidFill>
                <a:latin typeface="Arial MT"/>
                <a:cs typeface="Arial MT"/>
              </a:rPr>
              <a:t>of</a:t>
            </a:r>
            <a:r>
              <a:rPr dirty="0" sz="2150" spc="26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50" spc="55">
                <a:solidFill>
                  <a:srgbClr val="115652"/>
                </a:solidFill>
                <a:latin typeface="Arial MT"/>
                <a:cs typeface="Arial MT"/>
              </a:rPr>
              <a:t>high-</a:t>
            </a:r>
            <a:r>
              <a:rPr dirty="0" sz="2150" spc="50">
                <a:solidFill>
                  <a:srgbClr val="115652"/>
                </a:solidFill>
                <a:latin typeface="Arial MT"/>
                <a:cs typeface="Arial MT"/>
              </a:rPr>
              <a:t>risk</a:t>
            </a:r>
            <a:r>
              <a:rPr dirty="0" sz="2150" spc="27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115652"/>
                </a:solidFill>
                <a:latin typeface="Arial MT"/>
                <a:cs typeface="Arial MT"/>
              </a:rPr>
              <a:t>areas</a:t>
            </a:r>
            <a:r>
              <a:rPr dirty="0" sz="2150" spc="18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115652"/>
                </a:solidFill>
                <a:latin typeface="Arial MT"/>
                <a:cs typeface="Arial MT"/>
              </a:rPr>
              <a:t>to</a:t>
            </a:r>
            <a:r>
              <a:rPr dirty="0" sz="2150" spc="16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115652"/>
                </a:solidFill>
                <a:latin typeface="Arial MT"/>
                <a:cs typeface="Arial MT"/>
              </a:rPr>
              <a:t>support</a:t>
            </a:r>
            <a:r>
              <a:rPr dirty="0" sz="2150" spc="28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115652"/>
                </a:solidFill>
                <a:latin typeface="Arial MT"/>
                <a:cs typeface="Arial MT"/>
              </a:rPr>
              <a:t>better</a:t>
            </a:r>
            <a:r>
              <a:rPr dirty="0" sz="2150" spc="39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115652"/>
                </a:solidFill>
                <a:latin typeface="Arial MT"/>
                <a:cs typeface="Arial MT"/>
              </a:rPr>
              <a:t>disaster</a:t>
            </a:r>
            <a:r>
              <a:rPr dirty="0" sz="2150" spc="35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115652"/>
                </a:solidFill>
                <a:latin typeface="Arial MT"/>
                <a:cs typeface="Arial MT"/>
              </a:rPr>
              <a:t>response</a:t>
            </a:r>
            <a:r>
              <a:rPr dirty="0" sz="2150" spc="34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115652"/>
                </a:solidFill>
                <a:latin typeface="Arial MT"/>
                <a:cs typeface="Arial MT"/>
              </a:rPr>
              <a:t>and</a:t>
            </a:r>
            <a:r>
              <a:rPr dirty="0" sz="2150" spc="17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50" spc="-10">
                <a:solidFill>
                  <a:srgbClr val="115652"/>
                </a:solidFill>
                <a:latin typeface="Arial MT"/>
                <a:cs typeface="Arial MT"/>
              </a:rPr>
              <a:t>planning.</a:t>
            </a:r>
            <a:endParaRPr sz="21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31478" y="2639711"/>
            <a:ext cx="1323975" cy="2787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650" spc="-10">
                <a:solidFill>
                  <a:srgbClr val="115652"/>
                </a:solidFill>
                <a:latin typeface="Arial MT"/>
                <a:cs typeface="Arial MT"/>
              </a:rPr>
              <a:t>INNOVATION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62671" y="3060912"/>
            <a:ext cx="4006850" cy="8864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650" spc="-170">
                <a:solidFill>
                  <a:srgbClr val="115652"/>
                </a:solidFill>
                <a:latin typeface="Arial MT"/>
                <a:cs typeface="Arial MT"/>
              </a:rPr>
              <a:t>Our</a:t>
            </a:r>
            <a:r>
              <a:rPr dirty="0" sz="5650" spc="-22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5650" spc="60">
                <a:solidFill>
                  <a:srgbClr val="115652"/>
                </a:solidFill>
                <a:latin typeface="Arial MT"/>
                <a:cs typeface="Arial MT"/>
              </a:rPr>
              <a:t>Solution</a:t>
            </a:r>
            <a:endParaRPr sz="565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77839" y="4362649"/>
            <a:ext cx="14269085" cy="3980179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100">
                <a:solidFill>
                  <a:srgbClr val="165956"/>
                </a:solidFill>
                <a:latin typeface="Arial MT"/>
                <a:cs typeface="Arial MT"/>
              </a:rPr>
              <a:t>We</a:t>
            </a:r>
            <a:r>
              <a:rPr dirty="0" sz="2100" spc="305">
                <a:solidFill>
                  <a:srgbClr val="165956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115652"/>
                </a:solidFill>
                <a:latin typeface="Arial MT"/>
                <a:cs typeface="Arial MT"/>
              </a:rPr>
              <a:t>developed</a:t>
            </a:r>
            <a:r>
              <a:rPr dirty="0" sz="2100" spc="32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115652"/>
                </a:solidFill>
                <a:latin typeface="Arial MT"/>
                <a:cs typeface="Arial MT"/>
              </a:rPr>
              <a:t>the</a:t>
            </a:r>
            <a:r>
              <a:rPr dirty="0" sz="2100" spc="26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115652"/>
                </a:solidFill>
                <a:latin typeface="Arial MT"/>
                <a:cs typeface="Arial MT"/>
              </a:rPr>
              <a:t>Graph-Based</a:t>
            </a:r>
            <a:r>
              <a:rPr dirty="0" sz="2100" spc="37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00" spc="55">
                <a:solidFill>
                  <a:srgbClr val="165956"/>
                </a:solidFill>
                <a:latin typeface="Arial MT"/>
                <a:cs typeface="Arial MT"/>
              </a:rPr>
              <a:t>Wildfire</a:t>
            </a:r>
            <a:r>
              <a:rPr dirty="0" sz="2100" spc="375">
                <a:solidFill>
                  <a:srgbClr val="165956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115652"/>
                </a:solidFill>
                <a:latin typeface="Arial MT"/>
                <a:cs typeface="Arial MT"/>
              </a:rPr>
              <a:t>Spread</a:t>
            </a:r>
            <a:r>
              <a:rPr dirty="0" sz="2100" spc="39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115652"/>
                </a:solidFill>
                <a:latin typeface="Arial MT"/>
                <a:cs typeface="Arial MT"/>
              </a:rPr>
              <a:t>Simulation</a:t>
            </a:r>
            <a:r>
              <a:rPr dirty="0" sz="2100" spc="45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115652"/>
                </a:solidFill>
                <a:latin typeface="Arial MT"/>
                <a:cs typeface="Arial MT"/>
              </a:rPr>
              <a:t>System,</a:t>
            </a:r>
            <a:r>
              <a:rPr dirty="0" sz="2100" spc="26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115652"/>
                </a:solidFill>
                <a:latin typeface="Arial MT"/>
                <a:cs typeface="Arial MT"/>
              </a:rPr>
              <a:t>an</a:t>
            </a:r>
            <a:r>
              <a:rPr dirty="0" sz="2100" spc="16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00" spc="60">
                <a:solidFill>
                  <a:srgbClr val="115652"/>
                </a:solidFill>
                <a:latin typeface="Arial MT"/>
                <a:cs typeface="Arial MT"/>
              </a:rPr>
              <a:t>interactive</a:t>
            </a:r>
            <a:r>
              <a:rPr dirty="0" sz="2100" spc="35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115652"/>
                </a:solidFill>
                <a:latin typeface="Arial MT"/>
                <a:cs typeface="Arial MT"/>
              </a:rPr>
              <a:t>Java</a:t>
            </a:r>
            <a:r>
              <a:rPr dirty="0" sz="2100" spc="36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00" spc="55">
                <a:solidFill>
                  <a:srgbClr val="115652"/>
                </a:solidFill>
                <a:latin typeface="Arial MT"/>
                <a:cs typeface="Arial MT"/>
              </a:rPr>
              <a:t>desktop</a:t>
            </a:r>
            <a:r>
              <a:rPr dirty="0" sz="2100" spc="38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00" spc="50">
                <a:solidFill>
                  <a:srgbClr val="115652"/>
                </a:solidFill>
                <a:latin typeface="Arial MT"/>
                <a:cs typeface="Arial MT"/>
              </a:rPr>
              <a:t>application</a:t>
            </a:r>
            <a:r>
              <a:rPr dirty="0" sz="2100" spc="38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00" spc="40">
                <a:solidFill>
                  <a:srgbClr val="115652"/>
                </a:solidFill>
                <a:latin typeface="Arial MT"/>
                <a:cs typeface="Arial MT"/>
              </a:rPr>
              <a:t>that:</a:t>
            </a:r>
            <a:endParaRPr sz="2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0"/>
              </a:spcBef>
            </a:pPr>
            <a:endParaRPr sz="2100">
              <a:latin typeface="Arial MT"/>
              <a:cs typeface="Arial MT"/>
            </a:endParaRPr>
          </a:p>
          <a:p>
            <a:pPr marL="432434" indent="-391160">
              <a:lnSpc>
                <a:spcPct val="100000"/>
              </a:lnSpc>
              <a:buChar char="•"/>
              <a:tabLst>
                <a:tab pos="432434" algn="l"/>
              </a:tabLst>
            </a:pP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Loads</a:t>
            </a:r>
            <a:r>
              <a:rPr dirty="0" sz="2200" spc="15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a terrain</a:t>
            </a:r>
            <a:r>
              <a:rPr dirty="0" sz="2200" spc="8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or</a:t>
            </a:r>
            <a:r>
              <a:rPr dirty="0" sz="2200" spc="8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satellite</a:t>
            </a:r>
            <a:r>
              <a:rPr dirty="0" sz="2200" spc="8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 spc="-10">
                <a:solidFill>
                  <a:srgbClr val="115652"/>
                </a:solidFill>
                <a:latin typeface="Arial MT"/>
                <a:cs typeface="Arial MT"/>
              </a:rPr>
              <a:t>image</a:t>
            </a:r>
            <a:endParaRPr sz="2200">
              <a:latin typeface="Arial MT"/>
              <a:cs typeface="Arial MT"/>
            </a:endParaRPr>
          </a:p>
          <a:p>
            <a:pPr marL="430530" indent="-389255">
              <a:lnSpc>
                <a:spcPct val="100000"/>
              </a:lnSpc>
              <a:spcBef>
                <a:spcPts val="1185"/>
              </a:spcBef>
              <a:buChar char="•"/>
              <a:tabLst>
                <a:tab pos="430530" algn="l"/>
              </a:tabLst>
            </a:pP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Converts</a:t>
            </a:r>
            <a:r>
              <a:rPr dirty="0" sz="2200" spc="9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the</a:t>
            </a:r>
            <a:r>
              <a:rPr dirty="0" sz="2200" spc="2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image</a:t>
            </a:r>
            <a:r>
              <a:rPr dirty="0" sz="2200" spc="4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into</a:t>
            </a:r>
            <a:r>
              <a:rPr dirty="0" sz="2200" spc="11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a</a:t>
            </a:r>
            <a:r>
              <a:rPr dirty="0" sz="2200" spc="15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weighted</a:t>
            </a:r>
            <a:r>
              <a:rPr dirty="0" sz="2200" spc="14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graph</a:t>
            </a:r>
            <a:r>
              <a:rPr dirty="0" sz="2200" spc="15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where</a:t>
            </a:r>
            <a:r>
              <a:rPr dirty="0" sz="2200" spc="14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each</a:t>
            </a:r>
            <a:r>
              <a:rPr dirty="0" sz="2200" spc="8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block</a:t>
            </a:r>
            <a:r>
              <a:rPr dirty="0" sz="2200" spc="10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becomes</a:t>
            </a:r>
            <a:r>
              <a:rPr dirty="0" sz="2200" spc="22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a</a:t>
            </a:r>
            <a:r>
              <a:rPr dirty="0" sz="2200" spc="8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 spc="-20">
                <a:solidFill>
                  <a:srgbClr val="115652"/>
                </a:solidFill>
                <a:latin typeface="Arial MT"/>
                <a:cs typeface="Arial MT"/>
              </a:rPr>
              <a:t>node</a:t>
            </a:r>
            <a:endParaRPr sz="2200">
              <a:latin typeface="Arial MT"/>
              <a:cs typeface="Arial MT"/>
            </a:endParaRPr>
          </a:p>
          <a:p>
            <a:pPr marL="430530" indent="-389255">
              <a:lnSpc>
                <a:spcPct val="100000"/>
              </a:lnSpc>
              <a:spcBef>
                <a:spcPts val="1190"/>
              </a:spcBef>
              <a:buChar char="•"/>
              <a:tabLst>
                <a:tab pos="430530" algn="l"/>
              </a:tabLst>
            </a:pP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Classifies</a:t>
            </a:r>
            <a:r>
              <a:rPr dirty="0" sz="2200" spc="9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terrain</a:t>
            </a:r>
            <a:r>
              <a:rPr dirty="0" sz="2200" spc="5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types</a:t>
            </a:r>
            <a:r>
              <a:rPr dirty="0" sz="2200" spc="13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(Dry</a:t>
            </a:r>
            <a:r>
              <a:rPr dirty="0" sz="2200" spc="14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 spc="-10">
                <a:solidFill>
                  <a:srgbClr val="115652"/>
                </a:solidFill>
                <a:latin typeface="Arial MT"/>
                <a:cs typeface="Arial MT"/>
              </a:rPr>
              <a:t>Grass,</a:t>
            </a:r>
            <a:r>
              <a:rPr dirty="0" sz="2200" spc="6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 spc="-10">
                <a:solidFill>
                  <a:srgbClr val="115652"/>
                </a:solidFill>
                <a:latin typeface="Arial MT"/>
                <a:cs typeface="Arial MT"/>
              </a:rPr>
              <a:t>Grass,</a:t>
            </a:r>
            <a:r>
              <a:rPr dirty="0" sz="2200" spc="1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Forest,</a:t>
            </a:r>
            <a:r>
              <a:rPr dirty="0" sz="2200" spc="11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 spc="-10">
                <a:solidFill>
                  <a:srgbClr val="115652"/>
                </a:solidFill>
                <a:latin typeface="Arial MT"/>
                <a:cs typeface="Arial MT"/>
              </a:rPr>
              <a:t>Water)</a:t>
            </a:r>
            <a:endParaRPr sz="2200">
              <a:latin typeface="Arial MT"/>
              <a:cs typeface="Arial MT"/>
            </a:endParaRPr>
          </a:p>
          <a:p>
            <a:pPr marL="436880" indent="-395605">
              <a:lnSpc>
                <a:spcPct val="100000"/>
              </a:lnSpc>
              <a:spcBef>
                <a:spcPts val="1185"/>
              </a:spcBef>
              <a:buChar char="•"/>
              <a:tabLst>
                <a:tab pos="436880" algn="l"/>
              </a:tabLst>
            </a:pP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Assigns</a:t>
            </a:r>
            <a:r>
              <a:rPr dirty="0" sz="2200" spc="21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realistic</a:t>
            </a:r>
            <a:r>
              <a:rPr dirty="0" sz="2200" spc="20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fire</a:t>
            </a:r>
            <a:r>
              <a:rPr dirty="0" sz="2200" spc="7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spread</a:t>
            </a:r>
            <a:r>
              <a:rPr dirty="0" sz="2200" spc="22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costs</a:t>
            </a:r>
            <a:r>
              <a:rPr dirty="0" sz="2200" spc="10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to</a:t>
            </a:r>
            <a:r>
              <a:rPr dirty="0" sz="2200" spc="4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each</a:t>
            </a:r>
            <a:r>
              <a:rPr dirty="0" sz="2200" spc="13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 spc="-20">
                <a:solidFill>
                  <a:srgbClr val="115652"/>
                </a:solidFill>
                <a:latin typeface="Arial MT"/>
                <a:cs typeface="Arial MT"/>
              </a:rPr>
              <a:t>node</a:t>
            </a:r>
            <a:endParaRPr sz="2200">
              <a:latin typeface="Arial MT"/>
              <a:cs typeface="Arial MT"/>
            </a:endParaRPr>
          </a:p>
          <a:p>
            <a:pPr marL="429895" indent="-388620">
              <a:lnSpc>
                <a:spcPct val="100000"/>
              </a:lnSpc>
              <a:spcBef>
                <a:spcPts val="1185"/>
              </a:spcBef>
              <a:buChar char="•"/>
              <a:tabLst>
                <a:tab pos="429895" algn="l"/>
              </a:tabLst>
            </a:pP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Generates</a:t>
            </a:r>
            <a:r>
              <a:rPr dirty="0" sz="2200" spc="25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a</a:t>
            </a:r>
            <a:r>
              <a:rPr dirty="0" sz="2200" spc="12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color-coded</a:t>
            </a:r>
            <a:r>
              <a:rPr dirty="0" sz="2200" spc="254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risk</a:t>
            </a:r>
            <a:r>
              <a:rPr dirty="0" sz="2200" spc="8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mask</a:t>
            </a:r>
            <a:r>
              <a:rPr dirty="0" sz="2200" spc="16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showing</a:t>
            </a:r>
            <a:r>
              <a:rPr dirty="0" sz="2200" spc="14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fire</a:t>
            </a:r>
            <a:r>
              <a:rPr dirty="0" sz="2200" spc="5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danger</a:t>
            </a:r>
            <a:r>
              <a:rPr dirty="0" sz="2200" spc="17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 spc="-10">
                <a:solidFill>
                  <a:srgbClr val="115652"/>
                </a:solidFill>
                <a:latin typeface="Arial MT"/>
                <a:cs typeface="Arial MT"/>
              </a:rPr>
              <a:t>levels</a:t>
            </a:r>
            <a:endParaRPr sz="2200">
              <a:latin typeface="Arial MT"/>
              <a:cs typeface="Arial MT"/>
            </a:endParaRPr>
          </a:p>
          <a:p>
            <a:pPr marL="431165" indent="-389890">
              <a:lnSpc>
                <a:spcPct val="100000"/>
              </a:lnSpc>
              <a:spcBef>
                <a:spcPts val="1190"/>
              </a:spcBef>
              <a:buChar char="•"/>
              <a:tabLst>
                <a:tab pos="431165" algn="l"/>
              </a:tabLst>
            </a:pP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Displays</a:t>
            </a:r>
            <a:r>
              <a:rPr dirty="0" sz="2200" spc="24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detailed</a:t>
            </a:r>
            <a:r>
              <a:rPr dirty="0" sz="2200" spc="22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statistics</a:t>
            </a:r>
            <a:r>
              <a:rPr dirty="0" sz="2200" spc="21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by</a:t>
            </a:r>
            <a:r>
              <a:rPr dirty="0" sz="2200" spc="10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terrain</a:t>
            </a:r>
            <a:r>
              <a:rPr dirty="0" sz="2200" spc="10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 spc="-20">
                <a:solidFill>
                  <a:srgbClr val="115652"/>
                </a:solidFill>
                <a:latin typeface="Arial MT"/>
                <a:cs typeface="Arial MT"/>
              </a:rPr>
              <a:t>type</a:t>
            </a:r>
            <a:endParaRPr sz="2200">
              <a:latin typeface="Arial MT"/>
              <a:cs typeface="Arial MT"/>
            </a:endParaRPr>
          </a:p>
          <a:p>
            <a:pPr marL="436880" indent="-395605">
              <a:lnSpc>
                <a:spcPct val="100000"/>
              </a:lnSpc>
              <a:spcBef>
                <a:spcPts val="1315"/>
              </a:spcBef>
              <a:buChar char="•"/>
              <a:tabLst>
                <a:tab pos="436880" algn="l"/>
              </a:tabLst>
            </a:pP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Allows</a:t>
            </a:r>
            <a:r>
              <a:rPr dirty="0" sz="2200" spc="20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running</a:t>
            </a:r>
            <a:r>
              <a:rPr dirty="0" sz="2200" spc="15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Dijkstra's</a:t>
            </a:r>
            <a:r>
              <a:rPr dirty="0" sz="2200" spc="24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algorithm</a:t>
            </a:r>
            <a:r>
              <a:rPr dirty="0" sz="2200" spc="204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to</a:t>
            </a:r>
            <a:r>
              <a:rPr dirty="0" sz="2200" spc="114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show</a:t>
            </a:r>
            <a:r>
              <a:rPr dirty="0" sz="2200" spc="18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the</a:t>
            </a:r>
            <a:r>
              <a:rPr dirty="0" sz="2200" spc="114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most</a:t>
            </a:r>
            <a:r>
              <a:rPr dirty="0" sz="2200" spc="20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likely</a:t>
            </a:r>
            <a:r>
              <a:rPr dirty="0" sz="2200" spc="22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fire</a:t>
            </a:r>
            <a:r>
              <a:rPr dirty="0" sz="2200" spc="10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propagation</a:t>
            </a:r>
            <a:r>
              <a:rPr dirty="0" sz="2200" spc="30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 spc="-20">
                <a:solidFill>
                  <a:srgbClr val="115652"/>
                </a:solidFill>
                <a:latin typeface="Arial MT"/>
                <a:cs typeface="Arial MT"/>
              </a:rPr>
              <a:t>path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76695" y="6917682"/>
            <a:ext cx="431167" cy="431337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592477" y="1512919"/>
            <a:ext cx="2103755" cy="2800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650">
                <a:solidFill>
                  <a:srgbClr val="115652"/>
                </a:solidFill>
                <a:latin typeface="Arial MT"/>
                <a:cs typeface="Arial MT"/>
              </a:rPr>
              <a:t>TECHNICAL</a:t>
            </a:r>
            <a:r>
              <a:rPr dirty="0" sz="1650" spc="30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115652"/>
                </a:solidFill>
                <a:latin typeface="Arial MT"/>
                <a:cs typeface="Arial MT"/>
              </a:rPr>
              <a:t>DESIGN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19031" y="1948666"/>
            <a:ext cx="6583680" cy="88011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600">
                <a:solidFill>
                  <a:srgbClr val="115652"/>
                </a:solidFill>
                <a:latin typeface="Arial MT"/>
                <a:cs typeface="Arial MT"/>
              </a:rPr>
              <a:t>System </a:t>
            </a:r>
            <a:r>
              <a:rPr dirty="0" sz="5600" spc="105">
                <a:solidFill>
                  <a:srgbClr val="115652"/>
                </a:solidFill>
                <a:latin typeface="Arial MT"/>
                <a:cs typeface="Arial MT"/>
              </a:rPr>
              <a:t>Architecture</a:t>
            </a:r>
            <a:endParaRPr sz="56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87856" y="4308775"/>
            <a:ext cx="4762500" cy="1196975"/>
          </a:xfrm>
          <a:prstGeom prst="rect">
            <a:avLst/>
          </a:prstGeom>
        </p:spPr>
        <p:txBody>
          <a:bodyPr wrap="square" lIns="0" tIns="24955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64"/>
              </a:spcBef>
            </a:pPr>
            <a:r>
              <a:rPr dirty="0" sz="2650" spc="100">
                <a:solidFill>
                  <a:srgbClr val="115652"/>
                </a:solidFill>
                <a:latin typeface="Arial MT"/>
                <a:cs typeface="Arial MT"/>
              </a:rPr>
              <a:t>Input</a:t>
            </a:r>
            <a:endParaRPr sz="2650">
              <a:latin typeface="Arial MT"/>
              <a:cs typeface="Arial MT"/>
            </a:endParaRPr>
          </a:p>
          <a:p>
            <a:pPr marL="13970">
              <a:lnSpc>
                <a:spcPct val="100000"/>
              </a:lnSpc>
              <a:spcBef>
                <a:spcPts val="1535"/>
              </a:spcBef>
            </a:pP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User</a:t>
            </a:r>
            <a:r>
              <a:rPr dirty="0" sz="2200" spc="11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loads</a:t>
            </a:r>
            <a:r>
              <a:rPr dirty="0" sz="2200" spc="13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a</a:t>
            </a:r>
            <a:r>
              <a:rPr dirty="0" sz="2200" spc="5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terrain</a:t>
            </a:r>
            <a:r>
              <a:rPr dirty="0" sz="2200" spc="8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or</a:t>
            </a:r>
            <a:r>
              <a:rPr dirty="0" sz="2200" spc="20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satellite</a:t>
            </a:r>
            <a:r>
              <a:rPr dirty="0" sz="2200" spc="7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 spc="-10">
                <a:solidFill>
                  <a:srgbClr val="115652"/>
                </a:solidFill>
                <a:latin typeface="Arial MT"/>
                <a:cs typeface="Arial MT"/>
              </a:rPr>
              <a:t>image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86315" y="7670817"/>
            <a:ext cx="7700645" cy="1578610"/>
          </a:xfrm>
          <a:prstGeom prst="rect">
            <a:avLst/>
          </a:prstGeom>
        </p:spPr>
        <p:txBody>
          <a:bodyPr wrap="square" lIns="0" tIns="2451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30"/>
              </a:spcBef>
            </a:pPr>
            <a:r>
              <a:rPr dirty="0" sz="2650" spc="50">
                <a:solidFill>
                  <a:srgbClr val="115652"/>
                </a:solidFill>
                <a:latin typeface="Arial MT"/>
                <a:cs typeface="Arial MT"/>
              </a:rPr>
              <a:t>Core</a:t>
            </a:r>
            <a:r>
              <a:rPr dirty="0" sz="2650" spc="6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650" spc="100">
                <a:solidFill>
                  <a:srgbClr val="115652"/>
                </a:solidFill>
                <a:latin typeface="Arial MT"/>
                <a:cs typeface="Arial MT"/>
              </a:rPr>
              <a:t>Algorithm</a:t>
            </a:r>
            <a:endParaRPr sz="2650">
              <a:latin typeface="Arial MT"/>
              <a:cs typeface="Arial MT"/>
            </a:endParaRPr>
          </a:p>
          <a:p>
            <a:pPr marL="19050" marR="5080" indent="-3175">
              <a:lnSpc>
                <a:spcPct val="116500"/>
              </a:lnSpc>
              <a:spcBef>
                <a:spcPts val="1060"/>
              </a:spcBef>
            </a:pP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Dijkstra's</a:t>
            </a:r>
            <a:r>
              <a:rPr dirty="0" sz="2200" spc="36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algorithm</a:t>
            </a:r>
            <a:r>
              <a:rPr dirty="0" sz="2200" spc="35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finds</a:t>
            </a:r>
            <a:r>
              <a:rPr dirty="0" sz="2200" spc="18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the</a:t>
            </a:r>
            <a:r>
              <a:rPr dirty="0" sz="2200" spc="24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lowest-cost</a:t>
            </a:r>
            <a:r>
              <a:rPr dirty="0" sz="2200" spc="-20">
                <a:solidFill>
                  <a:srgbClr val="115652"/>
                </a:solidFill>
                <a:latin typeface="Arial MT"/>
                <a:cs typeface="Arial MT"/>
              </a:rPr>
              <a:t> 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(fastest</a:t>
            </a:r>
            <a:r>
              <a:rPr dirty="0" sz="2200" spc="39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 spc="-10">
                <a:solidFill>
                  <a:srgbClr val="115652"/>
                </a:solidFill>
                <a:latin typeface="Arial MT"/>
                <a:cs typeface="Arial MT"/>
              </a:rPr>
              <a:t>spreading) </a:t>
            </a:r>
            <a:r>
              <a:rPr dirty="0" sz="2200" spc="-20">
                <a:solidFill>
                  <a:srgbClr val="115652"/>
                </a:solidFill>
                <a:latin typeface="Arial MT"/>
                <a:cs typeface="Arial MT"/>
              </a:rPr>
              <a:t>path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9389225" y="4305661"/>
            <a:ext cx="7969884" cy="1997075"/>
          </a:xfrm>
          <a:prstGeom prst="rect">
            <a:avLst/>
          </a:prstGeom>
        </p:spPr>
        <p:txBody>
          <a:bodyPr wrap="square" lIns="0" tIns="2508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75"/>
              </a:spcBef>
            </a:pPr>
            <a:r>
              <a:rPr dirty="0" sz="2700" spc="-10">
                <a:solidFill>
                  <a:srgbClr val="115652"/>
                </a:solidFill>
                <a:latin typeface="Arial MT"/>
                <a:cs typeface="Arial MT"/>
              </a:rPr>
              <a:t>Processing</a:t>
            </a:r>
            <a:endParaRPr sz="2700">
              <a:latin typeface="Arial MT"/>
              <a:cs typeface="Arial MT"/>
            </a:endParaRPr>
          </a:p>
          <a:p>
            <a:pPr marL="20320" marR="5080" indent="-7620">
              <a:lnSpc>
                <a:spcPct val="118900"/>
              </a:lnSpc>
              <a:spcBef>
                <a:spcPts val="990"/>
              </a:spcBef>
            </a:pP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Image</a:t>
            </a:r>
            <a:r>
              <a:rPr dirty="0" sz="2200" spc="13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is</a:t>
            </a:r>
            <a:r>
              <a:rPr dirty="0" sz="2200" spc="9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divided</a:t>
            </a:r>
            <a:r>
              <a:rPr dirty="0" sz="2200" spc="15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into</a:t>
            </a:r>
            <a:r>
              <a:rPr dirty="0" sz="2200" spc="14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blocks,</a:t>
            </a:r>
            <a:r>
              <a:rPr dirty="0" sz="2200" spc="17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each</a:t>
            </a:r>
            <a:r>
              <a:rPr dirty="0" sz="2200" spc="19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block</a:t>
            </a:r>
            <a:r>
              <a:rPr dirty="0" sz="2200" spc="19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becomes</a:t>
            </a:r>
            <a:r>
              <a:rPr dirty="0" sz="2200" spc="18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a</a:t>
            </a:r>
            <a:r>
              <a:rPr dirty="0" sz="2200" spc="11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node</a:t>
            </a:r>
            <a:r>
              <a:rPr dirty="0" sz="2200" spc="9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in</a:t>
            </a:r>
            <a:r>
              <a:rPr dirty="0" sz="2200" spc="9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 spc="-50">
                <a:solidFill>
                  <a:srgbClr val="115652"/>
                </a:solidFill>
                <a:latin typeface="Arial MT"/>
                <a:cs typeface="Arial MT"/>
              </a:rPr>
              <a:t>a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2D</a:t>
            </a:r>
            <a:r>
              <a:rPr dirty="0" sz="2200" spc="16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grid</a:t>
            </a:r>
            <a:r>
              <a:rPr dirty="0" sz="2200" spc="12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graph,</a:t>
            </a:r>
            <a:r>
              <a:rPr dirty="0" sz="2200" spc="10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terrain</a:t>
            </a:r>
            <a:r>
              <a:rPr dirty="0" sz="2200" spc="9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is</a:t>
            </a:r>
            <a:r>
              <a:rPr dirty="0" sz="2200" spc="6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classified,</a:t>
            </a:r>
            <a:r>
              <a:rPr dirty="0" sz="2200" spc="22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and</a:t>
            </a:r>
            <a:r>
              <a:rPr dirty="0" sz="2200" spc="10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edges</a:t>
            </a:r>
            <a:r>
              <a:rPr dirty="0" sz="2200" spc="18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are</a:t>
            </a:r>
            <a:r>
              <a:rPr dirty="0" sz="2200" spc="10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created</a:t>
            </a:r>
            <a:r>
              <a:rPr dirty="0" sz="2200" spc="24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 spc="-20">
                <a:solidFill>
                  <a:srgbClr val="115652"/>
                </a:solidFill>
                <a:latin typeface="Arial MT"/>
                <a:cs typeface="Arial MT"/>
              </a:rPr>
              <a:t>with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fire</a:t>
            </a:r>
            <a:r>
              <a:rPr dirty="0" sz="2200" spc="14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spread</a:t>
            </a:r>
            <a:r>
              <a:rPr dirty="0" sz="2200" spc="17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 spc="-10">
                <a:solidFill>
                  <a:srgbClr val="115652"/>
                </a:solidFill>
                <a:latin typeface="Arial MT"/>
                <a:cs typeface="Arial MT"/>
              </a:rPr>
              <a:t>costs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9392330" y="7695356"/>
            <a:ext cx="7675245" cy="1163320"/>
          </a:xfrm>
          <a:prstGeom prst="rect">
            <a:avLst/>
          </a:prstGeom>
        </p:spPr>
        <p:txBody>
          <a:bodyPr wrap="square" lIns="0" tIns="2393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85"/>
              </a:spcBef>
            </a:pPr>
            <a:r>
              <a:rPr dirty="0" sz="2500" spc="195">
                <a:solidFill>
                  <a:srgbClr val="115652"/>
                </a:solidFill>
                <a:latin typeface="Arial MT"/>
                <a:cs typeface="Arial MT"/>
              </a:rPr>
              <a:t>Output</a:t>
            </a:r>
            <a:endParaRPr sz="2500">
              <a:latin typeface="Arial MT"/>
              <a:cs typeface="Arial MT"/>
            </a:endParaRPr>
          </a:p>
          <a:p>
            <a:pPr marL="13970">
              <a:lnSpc>
                <a:spcPct val="100000"/>
              </a:lnSpc>
              <a:spcBef>
                <a:spcPts val="1530"/>
              </a:spcBef>
            </a:pP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Color-coded</a:t>
            </a:r>
            <a:r>
              <a:rPr dirty="0" sz="2200" spc="45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wildfire</a:t>
            </a:r>
            <a:r>
              <a:rPr dirty="0" sz="2200" spc="22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risk</a:t>
            </a:r>
            <a:r>
              <a:rPr dirty="0" sz="2200" spc="204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mask</a:t>
            </a:r>
            <a:r>
              <a:rPr dirty="0" sz="2200" spc="28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and</a:t>
            </a:r>
            <a:r>
              <a:rPr dirty="0" sz="2200" spc="114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detailed</a:t>
            </a:r>
            <a:r>
              <a:rPr dirty="0" sz="2200" spc="16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terrain</a:t>
            </a:r>
            <a:r>
              <a:rPr dirty="0" sz="2200" spc="26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 spc="-10">
                <a:solidFill>
                  <a:srgbClr val="115652"/>
                </a:solidFill>
                <a:latin typeface="Arial MT"/>
                <a:cs typeface="Arial MT"/>
              </a:rPr>
              <a:t>statistics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66549" y="1374618"/>
            <a:ext cx="6971480" cy="824742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092835">
              <a:lnSpc>
                <a:spcPct val="100000"/>
              </a:lnSpc>
              <a:spcBef>
                <a:spcPts val="120"/>
              </a:spcBef>
            </a:pPr>
            <a:r>
              <a:rPr dirty="0" sz="3150" spc="-50"/>
              <a:t>Class</a:t>
            </a:r>
            <a:r>
              <a:rPr dirty="0" sz="3150" spc="-300"/>
              <a:t> </a:t>
            </a:r>
            <a:r>
              <a:rPr dirty="0" sz="3150" spc="-90"/>
              <a:t>Diagram</a:t>
            </a:r>
            <a:endParaRPr sz="31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30673" y="2364366"/>
            <a:ext cx="1974850" cy="2914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750" spc="-20">
                <a:solidFill>
                  <a:srgbClr val="115652"/>
                </a:solidFill>
                <a:latin typeface="Arial MT"/>
                <a:cs typeface="Arial MT"/>
              </a:rPr>
              <a:t>IMPLEMENTATION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5897" y="2796674"/>
            <a:ext cx="12371705" cy="892175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650" spc="-190">
                <a:solidFill>
                  <a:srgbClr val="115652"/>
                </a:solidFill>
                <a:latin typeface="Arial MT"/>
                <a:cs typeface="Arial MT"/>
              </a:rPr>
              <a:t>Key</a:t>
            </a:r>
            <a:r>
              <a:rPr dirty="0" sz="5650" spc="-16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5650">
                <a:solidFill>
                  <a:srgbClr val="115652"/>
                </a:solidFill>
                <a:latin typeface="Arial MT"/>
                <a:cs typeface="Arial MT"/>
              </a:rPr>
              <a:t>Approaches</a:t>
            </a:r>
            <a:r>
              <a:rPr dirty="0" sz="5650" spc="3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5650">
                <a:solidFill>
                  <a:srgbClr val="115652"/>
                </a:solidFill>
                <a:latin typeface="Arial MT"/>
                <a:cs typeface="Arial MT"/>
              </a:rPr>
              <a:t>and</a:t>
            </a:r>
            <a:r>
              <a:rPr dirty="0" sz="5650" spc="-39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5650">
                <a:solidFill>
                  <a:srgbClr val="115652"/>
                </a:solidFill>
                <a:latin typeface="Arial MT"/>
                <a:cs typeface="Arial MT"/>
              </a:rPr>
              <a:t>Design</a:t>
            </a:r>
            <a:r>
              <a:rPr dirty="0" sz="5650" spc="-17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5650" spc="-10">
                <a:solidFill>
                  <a:srgbClr val="115652"/>
                </a:solidFill>
                <a:latin typeface="Arial MT"/>
                <a:cs typeface="Arial MT"/>
              </a:rPr>
              <a:t>Decisions</a:t>
            </a:r>
            <a:endParaRPr sz="565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72863" y="4367148"/>
            <a:ext cx="6885940" cy="8216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5999"/>
              </a:lnSpc>
              <a:spcBef>
                <a:spcPts val="100"/>
              </a:spcBef>
              <a:tabLst>
                <a:tab pos="1696720" algn="l"/>
              </a:tabLst>
            </a:pPr>
            <a:r>
              <a:rPr dirty="0" sz="2250">
                <a:solidFill>
                  <a:srgbClr val="115652"/>
                </a:solidFill>
                <a:latin typeface="Arial MT"/>
                <a:cs typeface="Arial MT"/>
              </a:rPr>
              <a:t>Image</a:t>
            </a:r>
            <a:r>
              <a:rPr dirty="0" sz="2250" spc="4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50">
                <a:solidFill>
                  <a:srgbClr val="115652"/>
                </a:solidFill>
                <a:latin typeface="Arial MT"/>
                <a:cs typeface="Arial MT"/>
              </a:rPr>
              <a:t>is</a:t>
            </a:r>
            <a:r>
              <a:rPr dirty="0" sz="2250" spc="2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50">
                <a:solidFill>
                  <a:srgbClr val="115652"/>
                </a:solidFill>
                <a:latin typeface="Arial MT"/>
                <a:cs typeface="Arial MT"/>
              </a:rPr>
              <a:t>divided</a:t>
            </a:r>
            <a:r>
              <a:rPr dirty="0" sz="2250" spc="8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50">
                <a:solidFill>
                  <a:srgbClr val="115652"/>
                </a:solidFill>
                <a:latin typeface="Arial MT"/>
                <a:cs typeface="Arial MT"/>
              </a:rPr>
              <a:t>into</a:t>
            </a:r>
            <a:r>
              <a:rPr dirty="0" sz="2250" spc="-9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50">
                <a:solidFill>
                  <a:srgbClr val="115652"/>
                </a:solidFill>
                <a:latin typeface="Arial MT"/>
                <a:cs typeface="Arial MT"/>
              </a:rPr>
              <a:t>10</a:t>
            </a:r>
            <a:r>
              <a:rPr dirty="0" sz="2250" spc="5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50">
                <a:solidFill>
                  <a:srgbClr val="115652"/>
                </a:solidFill>
                <a:latin typeface="Arial MT"/>
                <a:cs typeface="Arial MT"/>
              </a:rPr>
              <a:t>by</a:t>
            </a:r>
            <a:r>
              <a:rPr dirty="0" sz="2250" spc="-5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50" spc="-20">
                <a:solidFill>
                  <a:srgbClr val="115652"/>
                </a:solidFill>
                <a:latin typeface="Arial MT"/>
                <a:cs typeface="Arial MT"/>
              </a:rPr>
              <a:t>10</a:t>
            </a:r>
            <a:r>
              <a:rPr dirty="0" sz="2250" spc="13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50">
                <a:solidFill>
                  <a:srgbClr val="115652"/>
                </a:solidFill>
                <a:latin typeface="Arial MT"/>
                <a:cs typeface="Arial MT"/>
              </a:rPr>
              <a:t>pixel</a:t>
            </a:r>
            <a:r>
              <a:rPr dirty="0" sz="2250" spc="7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50">
                <a:solidFill>
                  <a:srgbClr val="115652"/>
                </a:solidFill>
                <a:latin typeface="Arial MT"/>
                <a:cs typeface="Arial MT"/>
              </a:rPr>
              <a:t>blocks</a:t>
            </a:r>
            <a:r>
              <a:rPr dirty="0" sz="2250" spc="11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50">
                <a:solidFill>
                  <a:srgbClr val="115652"/>
                </a:solidFill>
                <a:latin typeface="Arial MT"/>
                <a:cs typeface="Arial MT"/>
              </a:rPr>
              <a:t>to</a:t>
            </a:r>
            <a:r>
              <a:rPr dirty="0" sz="2250" spc="2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50">
                <a:solidFill>
                  <a:srgbClr val="115652"/>
                </a:solidFill>
                <a:latin typeface="Arial MT"/>
                <a:cs typeface="Arial MT"/>
              </a:rPr>
              <a:t>create</a:t>
            </a:r>
            <a:r>
              <a:rPr dirty="0" sz="2250" spc="13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50" spc="-50">
                <a:solidFill>
                  <a:srgbClr val="115652"/>
                </a:solidFill>
                <a:latin typeface="Arial MT"/>
                <a:cs typeface="Arial MT"/>
              </a:rPr>
              <a:t>a </a:t>
            </a:r>
            <a:r>
              <a:rPr dirty="0" sz="2250" spc="-10">
                <a:solidFill>
                  <a:srgbClr val="115652"/>
                </a:solidFill>
                <a:latin typeface="Arial MT"/>
                <a:cs typeface="Arial MT"/>
              </a:rPr>
              <a:t>manageable</a:t>
            </a:r>
            <a:r>
              <a:rPr dirty="0" sz="2250">
                <a:solidFill>
                  <a:srgbClr val="115652"/>
                </a:solidFill>
                <a:latin typeface="Arial MT"/>
                <a:cs typeface="Arial MT"/>
              </a:rPr>
              <a:t>	2D</a:t>
            </a:r>
            <a:r>
              <a:rPr dirty="0" sz="2250" spc="1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50">
                <a:solidFill>
                  <a:srgbClr val="115652"/>
                </a:solidFill>
                <a:latin typeface="Arial MT"/>
                <a:cs typeface="Arial MT"/>
              </a:rPr>
              <a:t>grid</a:t>
            </a:r>
            <a:r>
              <a:rPr dirty="0" sz="2250" spc="5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50" spc="-10">
                <a:solidFill>
                  <a:srgbClr val="115652"/>
                </a:solidFill>
                <a:latin typeface="Arial MT"/>
                <a:cs typeface="Arial MT"/>
              </a:rPr>
              <a:t>graph</a:t>
            </a:r>
            <a:endParaRPr sz="225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78033" y="6056896"/>
            <a:ext cx="7912734" cy="821690"/>
          </a:xfrm>
          <a:prstGeom prst="rect">
            <a:avLst/>
          </a:prstGeom>
        </p:spPr>
        <p:txBody>
          <a:bodyPr wrap="square" lIns="0" tIns="755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Realistic</a:t>
            </a:r>
            <a:r>
              <a:rPr dirty="0" sz="2200" spc="29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fire</a:t>
            </a:r>
            <a:r>
              <a:rPr dirty="0" sz="2200" spc="15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spread</a:t>
            </a:r>
            <a:r>
              <a:rPr dirty="0" sz="2200" spc="13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costs</a:t>
            </a:r>
            <a:r>
              <a:rPr dirty="0" sz="2200" spc="12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are</a:t>
            </a:r>
            <a:r>
              <a:rPr dirty="0" sz="2200" spc="9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assigned</a:t>
            </a:r>
            <a:r>
              <a:rPr dirty="0" sz="2200" spc="23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(Dry</a:t>
            </a:r>
            <a:r>
              <a:rPr dirty="0" sz="2200" spc="16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Grass</a:t>
            </a:r>
            <a:r>
              <a:rPr dirty="0" sz="2200" spc="21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=</a:t>
            </a:r>
            <a:r>
              <a:rPr dirty="0" sz="2200" spc="3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 spc="-10">
                <a:solidFill>
                  <a:srgbClr val="115652"/>
                </a:solidFill>
                <a:latin typeface="Arial MT"/>
                <a:cs typeface="Arial MT"/>
              </a:rPr>
              <a:t>1,</a:t>
            </a:r>
            <a:r>
              <a:rPr dirty="0" sz="2200" spc="10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 spc="-10">
                <a:solidFill>
                  <a:srgbClr val="115652"/>
                </a:solidFill>
                <a:latin typeface="Arial MT"/>
                <a:cs typeface="Arial MT"/>
              </a:rPr>
              <a:t>Grass</a:t>
            </a:r>
            <a:endParaRPr sz="2200">
              <a:latin typeface="Arial MT"/>
              <a:cs typeface="Arial MT"/>
            </a:endParaRPr>
          </a:p>
          <a:p>
            <a:pPr marL="19050">
              <a:lnSpc>
                <a:spcPct val="100000"/>
              </a:lnSpc>
              <a:spcBef>
                <a:spcPts val="490"/>
              </a:spcBef>
            </a:pP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=</a:t>
            </a:r>
            <a:r>
              <a:rPr dirty="0" sz="2200" spc="16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2,</a:t>
            </a:r>
            <a:r>
              <a:rPr dirty="0" sz="2200" spc="-6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Forest</a:t>
            </a:r>
            <a:r>
              <a:rPr dirty="0" sz="2200" spc="16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=</a:t>
            </a:r>
            <a:r>
              <a:rPr dirty="0" sz="2200" spc="8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3,</a:t>
            </a:r>
            <a:r>
              <a:rPr dirty="0" sz="2200" spc="1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165956"/>
                </a:solidFill>
                <a:latin typeface="Arial MT"/>
                <a:cs typeface="Arial MT"/>
              </a:rPr>
              <a:t>Water</a:t>
            </a:r>
            <a:r>
              <a:rPr dirty="0" sz="2200" spc="215">
                <a:solidFill>
                  <a:srgbClr val="165956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=</a:t>
            </a:r>
            <a:r>
              <a:rPr dirty="0" sz="2200" spc="11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 spc="-10">
                <a:solidFill>
                  <a:srgbClr val="115652"/>
                </a:solidFill>
                <a:latin typeface="Arial MT"/>
                <a:cs typeface="Arial MT"/>
              </a:rPr>
              <a:t>infinite)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73824" y="7714753"/>
            <a:ext cx="7973059" cy="8547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4445">
              <a:lnSpc>
                <a:spcPct val="123600"/>
              </a:lnSpc>
              <a:spcBef>
                <a:spcPts val="100"/>
              </a:spcBef>
            </a:pP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Dijkstra's</a:t>
            </a:r>
            <a:r>
              <a:rPr dirty="0" sz="2200" spc="37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algorithm</a:t>
            </a:r>
            <a:r>
              <a:rPr dirty="0" sz="2200" spc="-35">
                <a:solidFill>
                  <a:srgbClr val="115652"/>
                </a:solidFill>
                <a:latin typeface="Arial MT"/>
                <a:cs typeface="Arial MT"/>
              </a:rPr>
              <a:t> 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with</a:t>
            </a:r>
            <a:r>
              <a:rPr dirty="0" sz="2200" spc="42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custom</a:t>
            </a:r>
            <a:r>
              <a:rPr dirty="0" sz="2200" spc="37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PriorityQueue</a:t>
            </a:r>
            <a:r>
              <a:rPr dirty="0" sz="2200" spc="-20">
                <a:solidFill>
                  <a:srgbClr val="115652"/>
                </a:solidFill>
                <a:latin typeface="Arial MT"/>
                <a:cs typeface="Arial MT"/>
              </a:rPr>
              <a:t> 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finds</a:t>
            </a:r>
            <a:r>
              <a:rPr dirty="0" sz="2200" spc="32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the</a:t>
            </a:r>
            <a:r>
              <a:rPr dirty="0" sz="2200" spc="31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 spc="-20">
                <a:solidFill>
                  <a:srgbClr val="115652"/>
                </a:solidFill>
                <a:latin typeface="Arial MT"/>
                <a:cs typeface="Arial MT"/>
              </a:rPr>
              <a:t>most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likely</a:t>
            </a:r>
            <a:r>
              <a:rPr dirty="0" sz="2200" spc="41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fire</a:t>
            </a:r>
            <a:r>
              <a:rPr dirty="0" sz="2200" spc="28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propagation</a:t>
            </a:r>
            <a:r>
              <a:rPr dirty="0" sz="2200" spc="46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 spc="-20">
                <a:solidFill>
                  <a:srgbClr val="115652"/>
                </a:solidFill>
                <a:latin typeface="Arial MT"/>
                <a:cs typeface="Arial MT"/>
              </a:rPr>
              <a:t>path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9676442" y="4367148"/>
            <a:ext cx="7636509" cy="8216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4" marR="5080" indent="-2540">
              <a:lnSpc>
                <a:spcPct val="115999"/>
              </a:lnSpc>
              <a:spcBef>
                <a:spcPts val="100"/>
              </a:spcBef>
            </a:pPr>
            <a:r>
              <a:rPr dirty="0" sz="2250">
                <a:solidFill>
                  <a:srgbClr val="115652"/>
                </a:solidFill>
                <a:latin typeface="Arial MT"/>
                <a:cs typeface="Arial MT"/>
              </a:rPr>
              <a:t>Custom</a:t>
            </a:r>
            <a:r>
              <a:rPr dirty="0" sz="2250" spc="20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50">
                <a:solidFill>
                  <a:srgbClr val="115652"/>
                </a:solidFill>
                <a:latin typeface="Arial MT"/>
                <a:cs typeface="Arial MT"/>
              </a:rPr>
              <a:t>algorithm</a:t>
            </a:r>
            <a:r>
              <a:rPr dirty="0" sz="2250" spc="16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50">
                <a:solidFill>
                  <a:srgbClr val="115652"/>
                </a:solidFill>
                <a:latin typeface="Arial MT"/>
                <a:cs typeface="Arial MT"/>
              </a:rPr>
              <a:t>classifies</a:t>
            </a:r>
            <a:r>
              <a:rPr dirty="0" sz="2250" spc="14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50">
                <a:solidFill>
                  <a:srgbClr val="115652"/>
                </a:solidFill>
                <a:latin typeface="Arial MT"/>
                <a:cs typeface="Arial MT"/>
              </a:rPr>
              <a:t>each</a:t>
            </a:r>
            <a:r>
              <a:rPr dirty="0" sz="2250" spc="13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50">
                <a:solidFill>
                  <a:srgbClr val="115652"/>
                </a:solidFill>
                <a:latin typeface="Arial MT"/>
                <a:cs typeface="Arial MT"/>
              </a:rPr>
              <a:t>block</a:t>
            </a:r>
            <a:r>
              <a:rPr dirty="0" sz="2250" spc="19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50">
                <a:solidFill>
                  <a:srgbClr val="115652"/>
                </a:solidFill>
                <a:latin typeface="Arial MT"/>
                <a:cs typeface="Arial MT"/>
              </a:rPr>
              <a:t>using</a:t>
            </a:r>
            <a:r>
              <a:rPr dirty="0" sz="2250" spc="10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50">
                <a:solidFill>
                  <a:srgbClr val="115652"/>
                </a:solidFill>
                <a:latin typeface="Arial MT"/>
                <a:cs typeface="Arial MT"/>
              </a:rPr>
              <a:t>average</a:t>
            </a:r>
            <a:r>
              <a:rPr dirty="0" sz="2250" spc="15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50" spc="-70">
                <a:solidFill>
                  <a:srgbClr val="115652"/>
                </a:solidFill>
                <a:latin typeface="Arial MT"/>
                <a:cs typeface="Arial MT"/>
              </a:rPr>
              <a:t>RGB </a:t>
            </a:r>
            <a:r>
              <a:rPr dirty="0" sz="2250">
                <a:solidFill>
                  <a:srgbClr val="115652"/>
                </a:solidFill>
                <a:latin typeface="Arial MT"/>
                <a:cs typeface="Arial MT"/>
              </a:rPr>
              <a:t>values</a:t>
            </a:r>
            <a:r>
              <a:rPr dirty="0" sz="2250" spc="6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50">
                <a:solidFill>
                  <a:srgbClr val="115652"/>
                </a:solidFill>
                <a:latin typeface="Arial MT"/>
                <a:cs typeface="Arial MT"/>
              </a:rPr>
              <a:t>into</a:t>
            </a:r>
            <a:r>
              <a:rPr dirty="0" sz="2250" spc="-2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50">
                <a:solidFill>
                  <a:srgbClr val="115652"/>
                </a:solidFill>
                <a:latin typeface="Arial MT"/>
                <a:cs typeface="Arial MT"/>
              </a:rPr>
              <a:t>Dry</a:t>
            </a:r>
            <a:r>
              <a:rPr dirty="0" sz="2250" spc="7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50" spc="-10">
                <a:solidFill>
                  <a:srgbClr val="115652"/>
                </a:solidFill>
                <a:latin typeface="Arial MT"/>
                <a:cs typeface="Arial MT"/>
              </a:rPr>
              <a:t>Grass,</a:t>
            </a:r>
            <a:r>
              <a:rPr dirty="0" sz="2250" spc="2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50" spc="-10">
                <a:solidFill>
                  <a:srgbClr val="115652"/>
                </a:solidFill>
                <a:latin typeface="Arial MT"/>
                <a:cs typeface="Arial MT"/>
              </a:rPr>
              <a:t>Grass,</a:t>
            </a:r>
            <a:r>
              <a:rPr dirty="0" sz="2250" spc="-4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50">
                <a:solidFill>
                  <a:srgbClr val="115652"/>
                </a:solidFill>
                <a:latin typeface="Arial MT"/>
                <a:cs typeface="Arial MT"/>
              </a:rPr>
              <a:t>Forest,</a:t>
            </a:r>
            <a:r>
              <a:rPr dirty="0" sz="2250" spc="2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50">
                <a:solidFill>
                  <a:srgbClr val="115652"/>
                </a:solidFill>
                <a:latin typeface="Arial MT"/>
                <a:cs typeface="Arial MT"/>
              </a:rPr>
              <a:t>or</a:t>
            </a:r>
            <a:r>
              <a:rPr dirty="0" sz="2250" spc="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50" spc="-10">
                <a:solidFill>
                  <a:srgbClr val="115652"/>
                </a:solidFill>
                <a:latin typeface="Arial MT"/>
                <a:cs typeface="Arial MT"/>
              </a:rPr>
              <a:t>Water</a:t>
            </a:r>
            <a:endParaRPr sz="225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9681448" y="6058162"/>
            <a:ext cx="7398384" cy="8216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270">
              <a:lnSpc>
                <a:spcPct val="115999"/>
              </a:lnSpc>
              <a:spcBef>
                <a:spcPts val="100"/>
              </a:spcBef>
            </a:pPr>
            <a:r>
              <a:rPr dirty="0" sz="2250">
                <a:solidFill>
                  <a:srgbClr val="115652"/>
                </a:solidFill>
                <a:latin typeface="Arial MT"/>
                <a:cs typeface="Arial MT"/>
              </a:rPr>
              <a:t>Adjacency</a:t>
            </a:r>
            <a:r>
              <a:rPr dirty="0" sz="2250" spc="35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50">
                <a:solidFill>
                  <a:srgbClr val="115652"/>
                </a:solidFill>
                <a:latin typeface="Arial MT"/>
                <a:cs typeface="Arial MT"/>
              </a:rPr>
              <a:t>edges</a:t>
            </a:r>
            <a:r>
              <a:rPr dirty="0" sz="2250" spc="23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50">
                <a:solidFill>
                  <a:srgbClr val="115652"/>
                </a:solidFill>
                <a:latin typeface="Arial MT"/>
                <a:cs typeface="Arial MT"/>
              </a:rPr>
              <a:t>connect</a:t>
            </a:r>
            <a:r>
              <a:rPr dirty="0" sz="2250" spc="25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50">
                <a:solidFill>
                  <a:srgbClr val="115652"/>
                </a:solidFill>
                <a:latin typeface="Arial MT"/>
                <a:cs typeface="Arial MT"/>
              </a:rPr>
              <a:t>neighboring</a:t>
            </a:r>
            <a:r>
              <a:rPr dirty="0" sz="2250" spc="27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50">
                <a:solidFill>
                  <a:srgbClr val="115652"/>
                </a:solidFill>
                <a:latin typeface="Arial MT"/>
                <a:cs typeface="Arial MT"/>
              </a:rPr>
              <a:t>nodes</a:t>
            </a:r>
            <a:r>
              <a:rPr dirty="0" sz="2250" spc="15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50">
                <a:solidFill>
                  <a:srgbClr val="115652"/>
                </a:solidFill>
                <a:latin typeface="Arial MT"/>
                <a:cs typeface="Arial MT"/>
              </a:rPr>
              <a:t>to</a:t>
            </a:r>
            <a:r>
              <a:rPr dirty="0" sz="2250" spc="7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50">
                <a:solidFill>
                  <a:srgbClr val="115652"/>
                </a:solidFill>
                <a:latin typeface="Arial MT"/>
                <a:cs typeface="Arial MT"/>
              </a:rPr>
              <a:t>form</a:t>
            </a:r>
            <a:r>
              <a:rPr dirty="0" sz="2250" spc="4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50" spc="-25">
                <a:solidFill>
                  <a:srgbClr val="115652"/>
                </a:solidFill>
                <a:latin typeface="Arial MT"/>
                <a:cs typeface="Arial MT"/>
              </a:rPr>
              <a:t>the </a:t>
            </a:r>
            <a:r>
              <a:rPr dirty="0" sz="2250" spc="-10">
                <a:solidFill>
                  <a:srgbClr val="115652"/>
                </a:solidFill>
                <a:latin typeface="Arial MT"/>
                <a:cs typeface="Arial MT"/>
              </a:rPr>
              <a:t>graph</a:t>
            </a:r>
            <a:endParaRPr sz="225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9675882" y="7717286"/>
            <a:ext cx="7764780" cy="8547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6350">
              <a:lnSpc>
                <a:spcPct val="118200"/>
              </a:lnSpc>
              <a:spcBef>
                <a:spcPts val="100"/>
              </a:spcBef>
              <a:tabLst>
                <a:tab pos="854710" algn="l"/>
              </a:tabLst>
            </a:pPr>
            <a:r>
              <a:rPr dirty="0" sz="2300">
                <a:solidFill>
                  <a:srgbClr val="115652"/>
                </a:solidFill>
                <a:latin typeface="Arial MT"/>
                <a:cs typeface="Arial MT"/>
              </a:rPr>
              <a:t>All</a:t>
            </a:r>
            <a:r>
              <a:rPr dirty="0" sz="2300" spc="-8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115652"/>
                </a:solidFill>
                <a:latin typeface="Arial MT"/>
                <a:cs typeface="Arial MT"/>
              </a:rPr>
              <a:t>required</a:t>
            </a:r>
            <a:r>
              <a:rPr dirty="0" sz="2300" spc="5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300" spc="-10">
                <a:solidFill>
                  <a:srgbClr val="115652"/>
                </a:solidFill>
                <a:latin typeface="Arial MT"/>
                <a:cs typeface="Arial MT"/>
              </a:rPr>
              <a:t>data</a:t>
            </a:r>
            <a:r>
              <a:rPr dirty="0" sz="2300" spc="6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115652"/>
                </a:solidFill>
                <a:latin typeface="Arial MT"/>
                <a:cs typeface="Arial MT"/>
              </a:rPr>
              <a:t>structures</a:t>
            </a:r>
            <a:r>
              <a:rPr dirty="0" sz="2300" spc="11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300" spc="-10">
                <a:solidFill>
                  <a:srgbClr val="115652"/>
                </a:solidFill>
                <a:latin typeface="Arial MT"/>
                <a:cs typeface="Arial MT"/>
              </a:rPr>
              <a:t>(ArrayList,</a:t>
            </a:r>
            <a:r>
              <a:rPr dirty="0" sz="2300" spc="5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115652"/>
                </a:solidFill>
                <a:latin typeface="Arial MT"/>
                <a:cs typeface="Arial MT"/>
              </a:rPr>
              <a:t>PriorityQueue,</a:t>
            </a:r>
            <a:r>
              <a:rPr dirty="0" sz="2300" spc="-15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300" spc="-10">
                <a:solidFill>
                  <a:srgbClr val="115652"/>
                </a:solidFill>
                <a:latin typeface="Arial MT"/>
                <a:cs typeface="Arial MT"/>
              </a:rPr>
              <a:t>Node, Edge)</a:t>
            </a:r>
            <a:r>
              <a:rPr dirty="0" sz="2300">
                <a:solidFill>
                  <a:srgbClr val="115652"/>
                </a:solidFill>
                <a:latin typeface="Arial MT"/>
                <a:cs typeface="Arial MT"/>
              </a:rPr>
              <a:t>	were</a:t>
            </a:r>
            <a:r>
              <a:rPr dirty="0" sz="2300" spc="-10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115652"/>
                </a:solidFill>
                <a:latin typeface="Arial MT"/>
                <a:cs typeface="Arial MT"/>
              </a:rPr>
              <a:t>implemented</a:t>
            </a:r>
            <a:r>
              <a:rPr dirty="0" sz="2300" spc="5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115652"/>
                </a:solidFill>
                <a:latin typeface="Arial MT"/>
                <a:cs typeface="Arial MT"/>
              </a:rPr>
              <a:t>from</a:t>
            </a:r>
            <a:r>
              <a:rPr dirty="0" sz="2300" spc="1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300" spc="-10">
                <a:solidFill>
                  <a:srgbClr val="115652"/>
                </a:solidFill>
                <a:latin typeface="Arial MT"/>
                <a:cs typeface="Arial MT"/>
              </a:rPr>
              <a:t>scratch</a:t>
            </a:r>
            <a:endParaRPr sz="2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1163" y="5024456"/>
            <a:ext cx="558161" cy="509013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20359" y="5032665"/>
            <a:ext cx="549953" cy="484383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295972" y="5016245"/>
            <a:ext cx="558161" cy="517223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528106" y="2560760"/>
            <a:ext cx="1628775" cy="28257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650" spc="-10">
                <a:solidFill>
                  <a:srgbClr val="115652"/>
                </a:solidFill>
                <a:latin typeface="Arial MT"/>
                <a:cs typeface="Arial MT"/>
              </a:rPr>
              <a:t>VISUALIZATION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43073" y="2996226"/>
            <a:ext cx="14394180" cy="8877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650">
                <a:solidFill>
                  <a:srgbClr val="115652"/>
                </a:solidFill>
                <a:latin typeface="Arial MT"/>
                <a:cs typeface="Arial MT"/>
              </a:rPr>
              <a:t>Graphical</a:t>
            </a:r>
            <a:r>
              <a:rPr dirty="0" sz="5650" spc="-28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5650" spc="100">
                <a:solidFill>
                  <a:srgbClr val="115652"/>
                </a:solidFill>
                <a:latin typeface="Arial MT"/>
                <a:cs typeface="Arial MT"/>
              </a:rPr>
              <a:t>Representation</a:t>
            </a:r>
            <a:r>
              <a:rPr dirty="0" sz="5650" spc="-39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5650" spc="-40">
                <a:solidFill>
                  <a:srgbClr val="115652"/>
                </a:solidFill>
                <a:latin typeface="Arial MT"/>
                <a:cs typeface="Arial MT"/>
              </a:rPr>
              <a:t>and</a:t>
            </a:r>
            <a:r>
              <a:rPr dirty="0" sz="5650" spc="-35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5650" spc="-35">
                <a:solidFill>
                  <a:srgbClr val="115652"/>
                </a:solidFill>
                <a:latin typeface="Arial MT"/>
                <a:cs typeface="Arial MT"/>
              </a:rPr>
              <a:t>User</a:t>
            </a:r>
            <a:r>
              <a:rPr dirty="0" sz="5650" spc="-17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5650" spc="80">
                <a:solidFill>
                  <a:srgbClr val="115652"/>
                </a:solidFill>
                <a:latin typeface="Arial MT"/>
                <a:cs typeface="Arial MT"/>
              </a:rPr>
              <a:t>Interface</a:t>
            </a:r>
            <a:endParaRPr sz="565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61541" y="4307073"/>
            <a:ext cx="12747625" cy="3543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50">
                <a:solidFill>
                  <a:srgbClr val="165956"/>
                </a:solidFill>
                <a:latin typeface="Arial MT"/>
                <a:cs typeface="Arial MT"/>
              </a:rPr>
              <a:t>We</a:t>
            </a:r>
            <a:r>
              <a:rPr dirty="0" sz="2150" spc="175">
                <a:solidFill>
                  <a:srgbClr val="165956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115652"/>
                </a:solidFill>
                <a:latin typeface="Arial MT"/>
                <a:cs typeface="Arial MT"/>
              </a:rPr>
              <a:t>used</a:t>
            </a:r>
            <a:r>
              <a:rPr dirty="0" sz="2150" spc="19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115652"/>
                </a:solidFill>
                <a:latin typeface="Arial MT"/>
                <a:cs typeface="Arial MT"/>
              </a:rPr>
              <a:t>a</a:t>
            </a:r>
            <a:r>
              <a:rPr dirty="0" sz="2150" spc="30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50" spc="65">
                <a:solidFill>
                  <a:srgbClr val="115652"/>
                </a:solidFill>
                <a:latin typeface="Arial MT"/>
                <a:cs typeface="Arial MT"/>
              </a:rPr>
              <a:t>color-</a:t>
            </a:r>
            <a:r>
              <a:rPr dirty="0" sz="2150" spc="90">
                <a:solidFill>
                  <a:srgbClr val="115652"/>
                </a:solidFill>
                <a:latin typeface="Arial MT"/>
                <a:cs typeface="Arial MT"/>
              </a:rPr>
              <a:t>coded</a:t>
            </a:r>
            <a:r>
              <a:rPr dirty="0" sz="2150" spc="31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115652"/>
                </a:solidFill>
                <a:latin typeface="Arial MT"/>
                <a:cs typeface="Arial MT"/>
              </a:rPr>
              <a:t>risk</a:t>
            </a:r>
            <a:r>
              <a:rPr dirty="0" sz="2150" spc="19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115652"/>
                </a:solidFill>
                <a:latin typeface="Arial MT"/>
                <a:cs typeface="Arial MT"/>
              </a:rPr>
              <a:t>mask</a:t>
            </a:r>
            <a:r>
              <a:rPr dirty="0" sz="2150" spc="33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115652"/>
                </a:solidFill>
                <a:latin typeface="Arial MT"/>
                <a:cs typeface="Arial MT"/>
              </a:rPr>
              <a:t>overlaid</a:t>
            </a:r>
            <a:r>
              <a:rPr dirty="0" sz="2150" spc="27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115652"/>
                </a:solidFill>
                <a:latin typeface="Arial MT"/>
                <a:cs typeface="Arial MT"/>
              </a:rPr>
              <a:t>on</a:t>
            </a:r>
            <a:r>
              <a:rPr dirty="0" sz="2150" spc="14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115652"/>
                </a:solidFill>
                <a:latin typeface="Arial MT"/>
                <a:cs typeface="Arial MT"/>
              </a:rPr>
              <a:t>the</a:t>
            </a:r>
            <a:r>
              <a:rPr dirty="0" sz="2150" spc="18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115652"/>
                </a:solidFill>
                <a:latin typeface="Arial MT"/>
                <a:cs typeface="Arial MT"/>
              </a:rPr>
              <a:t>original</a:t>
            </a:r>
            <a:r>
              <a:rPr dirty="0" sz="2150" spc="24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115652"/>
                </a:solidFill>
                <a:latin typeface="Arial MT"/>
                <a:cs typeface="Arial MT"/>
              </a:rPr>
              <a:t>image</a:t>
            </a:r>
            <a:r>
              <a:rPr dirty="0" sz="2150" spc="25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50" spc="50">
                <a:solidFill>
                  <a:srgbClr val="115652"/>
                </a:solidFill>
                <a:latin typeface="Arial MT"/>
                <a:cs typeface="Arial MT"/>
              </a:rPr>
              <a:t>for</a:t>
            </a:r>
            <a:r>
              <a:rPr dirty="0" sz="2150" spc="21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115652"/>
                </a:solidFill>
                <a:latin typeface="Arial MT"/>
                <a:cs typeface="Arial MT"/>
              </a:rPr>
              <a:t>clear</a:t>
            </a:r>
            <a:r>
              <a:rPr dirty="0" sz="2150" spc="35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115652"/>
                </a:solidFill>
                <a:latin typeface="Arial MT"/>
                <a:cs typeface="Arial MT"/>
              </a:rPr>
              <a:t>and</a:t>
            </a:r>
            <a:r>
              <a:rPr dirty="0" sz="2150" spc="19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50" spc="50">
                <a:solidFill>
                  <a:srgbClr val="115652"/>
                </a:solidFill>
                <a:latin typeface="Arial MT"/>
                <a:cs typeface="Arial MT"/>
              </a:rPr>
              <a:t>intuitive</a:t>
            </a:r>
            <a:r>
              <a:rPr dirty="0" sz="2150" spc="29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50" spc="-10">
                <a:solidFill>
                  <a:srgbClr val="115652"/>
                </a:solidFill>
                <a:latin typeface="Arial MT"/>
                <a:cs typeface="Arial MT"/>
              </a:rPr>
              <a:t>visualization:</a:t>
            </a:r>
            <a:endParaRPr sz="215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229863" y="4947444"/>
            <a:ext cx="4727575" cy="1224280"/>
          </a:xfrm>
          <a:prstGeom prst="rect">
            <a:avLst/>
          </a:prstGeom>
        </p:spPr>
        <p:txBody>
          <a:bodyPr wrap="square" lIns="0" tIns="3810" rIns="0" bIns="0" rtlCol="0" vert="horz">
            <a:spAutoFit/>
          </a:bodyPr>
          <a:lstStyle/>
          <a:p>
            <a:pPr marL="17145" marR="5080" indent="-5080">
              <a:lnSpc>
                <a:spcPct val="122800"/>
              </a:lnSpc>
              <a:spcBef>
                <a:spcPts val="30"/>
              </a:spcBef>
              <a:tabLst>
                <a:tab pos="2487295" algn="l"/>
              </a:tabLst>
            </a:pPr>
            <a:r>
              <a:rPr dirty="0" sz="2150">
                <a:solidFill>
                  <a:srgbClr val="115652"/>
                </a:solidFill>
                <a:latin typeface="Arial MT"/>
                <a:cs typeface="Arial MT"/>
              </a:rPr>
              <a:t>Red</a:t>
            </a:r>
            <a:r>
              <a:rPr dirty="0" sz="2150" spc="18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115652"/>
                </a:solidFill>
                <a:latin typeface="Arial MT"/>
                <a:cs typeface="Arial MT"/>
              </a:rPr>
              <a:t>areas</a:t>
            </a:r>
            <a:r>
              <a:rPr dirty="0" sz="2150" spc="18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115652"/>
                </a:solidFill>
                <a:latin typeface="Arial MT"/>
                <a:cs typeface="Arial MT"/>
              </a:rPr>
              <a:t>represent</a:t>
            </a:r>
            <a:r>
              <a:rPr dirty="0" sz="2150" spc="28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115652"/>
                </a:solidFill>
                <a:latin typeface="Arial MT"/>
                <a:cs typeface="Arial MT"/>
              </a:rPr>
              <a:t>High</a:t>
            </a:r>
            <a:r>
              <a:rPr dirty="0" sz="2150" spc="15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115652"/>
                </a:solidFill>
                <a:latin typeface="Arial MT"/>
                <a:cs typeface="Arial MT"/>
              </a:rPr>
              <a:t>Risk</a:t>
            </a:r>
            <a:r>
              <a:rPr dirty="0" sz="2150" spc="30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50" spc="-10">
                <a:solidFill>
                  <a:srgbClr val="115652"/>
                </a:solidFill>
                <a:latin typeface="Arial MT"/>
                <a:cs typeface="Arial MT"/>
              </a:rPr>
              <a:t>zones </a:t>
            </a:r>
            <a:r>
              <a:rPr dirty="0" sz="2150">
                <a:solidFill>
                  <a:srgbClr val="115652"/>
                </a:solidFill>
                <a:latin typeface="Arial MT"/>
                <a:cs typeface="Arial MT"/>
              </a:rPr>
              <a:t>(mainly</a:t>
            </a:r>
            <a:r>
              <a:rPr dirty="0" sz="2150" spc="33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115652"/>
                </a:solidFill>
                <a:latin typeface="Arial MT"/>
                <a:cs typeface="Arial MT"/>
              </a:rPr>
              <a:t>Dry</a:t>
            </a:r>
            <a:r>
              <a:rPr dirty="0" sz="2150" spc="27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50" spc="-10">
                <a:solidFill>
                  <a:srgbClr val="115652"/>
                </a:solidFill>
                <a:latin typeface="Arial MT"/>
                <a:cs typeface="Arial MT"/>
              </a:rPr>
              <a:t>Grass)</a:t>
            </a:r>
            <a:r>
              <a:rPr dirty="0" sz="2150">
                <a:solidFill>
                  <a:srgbClr val="115652"/>
                </a:solidFill>
                <a:latin typeface="Arial MT"/>
                <a:cs typeface="Arial MT"/>
              </a:rPr>
              <a:t>	where</a:t>
            </a:r>
            <a:r>
              <a:rPr dirty="0" sz="2150" spc="28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50" spc="45">
                <a:solidFill>
                  <a:srgbClr val="115652"/>
                </a:solidFill>
                <a:latin typeface="Arial MT"/>
                <a:cs typeface="Arial MT"/>
              </a:rPr>
              <a:t>fire </a:t>
            </a:r>
            <a:r>
              <a:rPr dirty="0" sz="2150">
                <a:solidFill>
                  <a:srgbClr val="115652"/>
                </a:solidFill>
                <a:latin typeface="Arial MT"/>
                <a:cs typeface="Arial MT"/>
              </a:rPr>
              <a:t>spreads</a:t>
            </a:r>
            <a:r>
              <a:rPr dirty="0" sz="2150" spc="43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115652"/>
                </a:solidFill>
                <a:latin typeface="Arial MT"/>
                <a:cs typeface="Arial MT"/>
              </a:rPr>
              <a:t>very</a:t>
            </a:r>
            <a:r>
              <a:rPr dirty="0" sz="2150" spc="39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50" spc="55">
                <a:solidFill>
                  <a:srgbClr val="115652"/>
                </a:solidFill>
                <a:latin typeface="Arial MT"/>
                <a:cs typeface="Arial MT"/>
              </a:rPr>
              <a:t>quickly</a:t>
            </a:r>
            <a:endParaRPr sz="215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66675" y="6507325"/>
            <a:ext cx="9287510" cy="204723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50">
                <a:solidFill>
                  <a:srgbClr val="115652"/>
                </a:solidFill>
                <a:latin typeface="Arial MT"/>
                <a:cs typeface="Arial MT"/>
              </a:rPr>
              <a:t>The</a:t>
            </a:r>
            <a:r>
              <a:rPr dirty="0" sz="2150" spc="15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50" spc="55">
                <a:solidFill>
                  <a:srgbClr val="115652"/>
                </a:solidFill>
                <a:latin typeface="Arial MT"/>
                <a:cs typeface="Arial MT"/>
              </a:rPr>
              <a:t>interface</a:t>
            </a:r>
            <a:r>
              <a:rPr dirty="0" sz="2150" spc="19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115652"/>
                </a:solidFill>
                <a:latin typeface="Arial MT"/>
                <a:cs typeface="Arial MT"/>
              </a:rPr>
              <a:t>also</a:t>
            </a:r>
            <a:r>
              <a:rPr dirty="0" sz="2150" spc="16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150" spc="-10">
                <a:solidFill>
                  <a:srgbClr val="115652"/>
                </a:solidFill>
                <a:latin typeface="Arial MT"/>
                <a:cs typeface="Arial MT"/>
              </a:rPr>
              <a:t>displays:</a:t>
            </a:r>
            <a:endParaRPr sz="21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5"/>
              </a:spcBef>
            </a:pPr>
            <a:endParaRPr sz="2150">
              <a:latin typeface="Arial MT"/>
              <a:cs typeface="Arial MT"/>
            </a:endParaRPr>
          </a:p>
          <a:p>
            <a:pPr marL="438784" indent="-401955">
              <a:lnSpc>
                <a:spcPct val="100000"/>
              </a:lnSpc>
              <a:buChar char="•"/>
              <a:tabLst>
                <a:tab pos="438784" algn="l"/>
              </a:tabLst>
            </a:pP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Total</a:t>
            </a:r>
            <a:r>
              <a:rPr dirty="0" sz="2200" spc="13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number</a:t>
            </a:r>
            <a:r>
              <a:rPr dirty="0" sz="2200" spc="28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of</a:t>
            </a:r>
            <a:r>
              <a:rPr dirty="0" sz="2200" spc="15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nodes</a:t>
            </a:r>
            <a:r>
              <a:rPr dirty="0" sz="2200" spc="8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in</a:t>
            </a:r>
            <a:r>
              <a:rPr dirty="0" sz="2200" spc="2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the</a:t>
            </a:r>
            <a:r>
              <a:rPr dirty="0" sz="2200" spc="14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 spc="-10">
                <a:solidFill>
                  <a:srgbClr val="115652"/>
                </a:solidFill>
                <a:latin typeface="Arial MT"/>
                <a:cs typeface="Arial MT"/>
              </a:rPr>
              <a:t>graph</a:t>
            </a:r>
            <a:endParaRPr sz="2200">
              <a:latin typeface="Arial MT"/>
              <a:cs typeface="Arial MT"/>
            </a:endParaRPr>
          </a:p>
          <a:p>
            <a:pPr marL="433070" indent="-396240">
              <a:lnSpc>
                <a:spcPct val="100000"/>
              </a:lnSpc>
              <a:spcBef>
                <a:spcPts val="1240"/>
              </a:spcBef>
              <a:buChar char="•"/>
              <a:tabLst>
                <a:tab pos="433070" algn="l"/>
              </a:tabLst>
            </a:pP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Breakdown</a:t>
            </a:r>
            <a:r>
              <a:rPr dirty="0" sz="2200" spc="19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of</a:t>
            </a:r>
            <a:r>
              <a:rPr dirty="0" sz="2200" spc="14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nodes</a:t>
            </a:r>
            <a:r>
              <a:rPr dirty="0" sz="2200" spc="13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by</a:t>
            </a:r>
            <a:r>
              <a:rPr dirty="0" sz="2200" spc="9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terrain</a:t>
            </a:r>
            <a:r>
              <a:rPr dirty="0" sz="2200" spc="8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 spc="55">
                <a:solidFill>
                  <a:srgbClr val="115652"/>
                </a:solidFill>
                <a:latin typeface="Arial MT"/>
                <a:cs typeface="Arial MT"/>
              </a:rPr>
              <a:t>type</a:t>
            </a:r>
            <a:r>
              <a:rPr dirty="0" sz="2200" spc="15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(Dry</a:t>
            </a:r>
            <a:r>
              <a:rPr dirty="0" sz="2200" spc="12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Grass,</a:t>
            </a:r>
            <a:r>
              <a:rPr dirty="0" sz="2200" spc="10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Grass/Forest,</a:t>
            </a:r>
            <a:r>
              <a:rPr dirty="0" sz="2200" spc="26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 spc="-10">
                <a:solidFill>
                  <a:srgbClr val="115652"/>
                </a:solidFill>
                <a:latin typeface="Arial MT"/>
                <a:cs typeface="Arial MT"/>
              </a:rPr>
              <a:t>Water)</a:t>
            </a:r>
            <a:endParaRPr sz="2200">
              <a:latin typeface="Arial MT"/>
              <a:cs typeface="Arial MT"/>
            </a:endParaRPr>
          </a:p>
          <a:p>
            <a:pPr marL="431800" indent="-394970">
              <a:lnSpc>
                <a:spcPct val="100000"/>
              </a:lnSpc>
              <a:spcBef>
                <a:spcPts val="1240"/>
              </a:spcBef>
              <a:buChar char="•"/>
              <a:tabLst>
                <a:tab pos="431800" algn="l"/>
              </a:tabLst>
            </a:pP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Dijkstra</a:t>
            </a:r>
            <a:r>
              <a:rPr dirty="0" sz="2200" spc="37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shortest</a:t>
            </a:r>
            <a:r>
              <a:rPr dirty="0" sz="2200" spc="26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path</a:t>
            </a:r>
            <a:r>
              <a:rPr dirty="0" sz="2200" spc="21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output</a:t>
            </a:r>
            <a:r>
              <a:rPr dirty="0" sz="2200" spc="280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115652"/>
                </a:solidFill>
                <a:latin typeface="Arial MT"/>
                <a:cs typeface="Arial MT"/>
              </a:rPr>
              <a:t>when</a:t>
            </a:r>
            <a:r>
              <a:rPr dirty="0" sz="2200" spc="15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2200" spc="-10">
                <a:solidFill>
                  <a:srgbClr val="115652"/>
                </a:solidFill>
                <a:latin typeface="Arial MT"/>
                <a:cs typeface="Arial MT"/>
              </a:rPr>
              <a:t>requested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7197935" y="4950864"/>
            <a:ext cx="4668520" cy="81406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14900"/>
              </a:lnSpc>
              <a:spcBef>
                <a:spcPts val="90"/>
              </a:spcBef>
            </a:pPr>
            <a:r>
              <a:rPr dirty="0" sz="2250">
                <a:solidFill>
                  <a:srgbClr val="115652"/>
                </a:solidFill>
                <a:latin typeface="Calibri"/>
                <a:cs typeface="Calibri"/>
              </a:rPr>
              <a:t>Yellow</a:t>
            </a:r>
            <a:r>
              <a:rPr dirty="0" sz="2250" spc="409">
                <a:solidFill>
                  <a:srgbClr val="115652"/>
                </a:solidFill>
                <a:latin typeface="Calibri"/>
                <a:cs typeface="Calibri"/>
              </a:rPr>
              <a:t> </a:t>
            </a:r>
            <a:r>
              <a:rPr dirty="0" sz="2250" spc="80">
                <a:solidFill>
                  <a:srgbClr val="115652"/>
                </a:solidFill>
                <a:latin typeface="Calibri"/>
                <a:cs typeface="Calibri"/>
              </a:rPr>
              <a:t>areas</a:t>
            </a:r>
            <a:r>
              <a:rPr dirty="0" sz="2250" spc="320">
                <a:solidFill>
                  <a:srgbClr val="115652"/>
                </a:solidFill>
                <a:latin typeface="Calibri"/>
                <a:cs typeface="Calibri"/>
              </a:rPr>
              <a:t> </a:t>
            </a:r>
            <a:r>
              <a:rPr dirty="0" sz="2250" spc="65">
                <a:solidFill>
                  <a:srgbClr val="115652"/>
                </a:solidFill>
                <a:latin typeface="Calibri"/>
                <a:cs typeface="Calibri"/>
              </a:rPr>
              <a:t>represent</a:t>
            </a:r>
            <a:r>
              <a:rPr dirty="0" sz="2250" spc="320">
                <a:solidFill>
                  <a:srgbClr val="115652"/>
                </a:solidFill>
                <a:latin typeface="Calibri"/>
                <a:cs typeface="Calibri"/>
              </a:rPr>
              <a:t> </a:t>
            </a:r>
            <a:r>
              <a:rPr dirty="0" sz="2250">
                <a:solidFill>
                  <a:srgbClr val="115652"/>
                </a:solidFill>
                <a:latin typeface="Calibri"/>
                <a:cs typeface="Calibri"/>
              </a:rPr>
              <a:t>Medium</a:t>
            </a:r>
            <a:r>
              <a:rPr dirty="0" sz="2250" spc="415">
                <a:solidFill>
                  <a:srgbClr val="115652"/>
                </a:solidFill>
                <a:latin typeface="Calibri"/>
                <a:cs typeface="Calibri"/>
              </a:rPr>
              <a:t> </a:t>
            </a:r>
            <a:r>
              <a:rPr dirty="0" sz="2250" spc="100">
                <a:solidFill>
                  <a:srgbClr val="115652"/>
                </a:solidFill>
                <a:latin typeface="Calibri"/>
                <a:cs typeface="Calibri"/>
              </a:rPr>
              <a:t>Risk </a:t>
            </a:r>
            <a:r>
              <a:rPr dirty="0" sz="2250" spc="120">
                <a:solidFill>
                  <a:srgbClr val="115652"/>
                </a:solidFill>
                <a:latin typeface="Calibri"/>
                <a:cs typeface="Calibri"/>
              </a:rPr>
              <a:t>zones</a:t>
            </a:r>
            <a:r>
              <a:rPr dirty="0" sz="2250" spc="295">
                <a:solidFill>
                  <a:srgbClr val="115652"/>
                </a:solidFill>
                <a:latin typeface="Calibri"/>
                <a:cs typeface="Calibri"/>
              </a:rPr>
              <a:t> </a:t>
            </a:r>
            <a:r>
              <a:rPr dirty="0" sz="2250" spc="105">
                <a:solidFill>
                  <a:srgbClr val="115652"/>
                </a:solidFill>
                <a:latin typeface="Calibri"/>
                <a:cs typeface="Calibri"/>
              </a:rPr>
              <a:t>(Grass</a:t>
            </a:r>
            <a:r>
              <a:rPr dirty="0" sz="2250" spc="254">
                <a:solidFill>
                  <a:srgbClr val="115652"/>
                </a:solidFill>
                <a:latin typeface="Calibri"/>
                <a:cs typeface="Calibri"/>
              </a:rPr>
              <a:t> </a:t>
            </a:r>
            <a:r>
              <a:rPr dirty="0" sz="2250" spc="75">
                <a:solidFill>
                  <a:srgbClr val="115652"/>
                </a:solidFill>
                <a:latin typeface="Calibri"/>
                <a:cs typeface="Calibri"/>
              </a:rPr>
              <a:t>and</a:t>
            </a:r>
            <a:r>
              <a:rPr dirty="0" sz="2250" spc="165">
                <a:solidFill>
                  <a:srgbClr val="115652"/>
                </a:solidFill>
                <a:latin typeface="Calibri"/>
                <a:cs typeface="Calibri"/>
              </a:rPr>
              <a:t> </a:t>
            </a:r>
            <a:r>
              <a:rPr dirty="0" sz="2250" spc="50">
                <a:solidFill>
                  <a:srgbClr val="115652"/>
                </a:solidFill>
                <a:latin typeface="Calibri"/>
                <a:cs typeface="Calibri"/>
              </a:rPr>
              <a:t>Forest)</a:t>
            </a:r>
            <a:endParaRPr sz="225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3153555" y="4950864"/>
            <a:ext cx="4746625" cy="1224280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 marR="5080">
              <a:lnSpc>
                <a:spcPct val="117300"/>
              </a:lnSpc>
              <a:spcBef>
                <a:spcPts val="25"/>
              </a:spcBef>
            </a:pPr>
            <a:r>
              <a:rPr dirty="0" sz="2250" spc="75">
                <a:solidFill>
                  <a:srgbClr val="115652"/>
                </a:solidFill>
                <a:latin typeface="Calibri"/>
                <a:cs typeface="Calibri"/>
              </a:rPr>
              <a:t>Blue</a:t>
            </a:r>
            <a:r>
              <a:rPr dirty="0" sz="2250" spc="160">
                <a:solidFill>
                  <a:srgbClr val="115652"/>
                </a:solidFill>
                <a:latin typeface="Calibri"/>
                <a:cs typeface="Calibri"/>
              </a:rPr>
              <a:t> </a:t>
            </a:r>
            <a:r>
              <a:rPr dirty="0" sz="2250" spc="90">
                <a:solidFill>
                  <a:srgbClr val="115652"/>
                </a:solidFill>
                <a:latin typeface="Calibri"/>
                <a:cs typeface="Calibri"/>
              </a:rPr>
              <a:t>areas</a:t>
            </a:r>
            <a:r>
              <a:rPr dirty="0" sz="2250" spc="225">
                <a:solidFill>
                  <a:srgbClr val="115652"/>
                </a:solidFill>
                <a:latin typeface="Calibri"/>
                <a:cs typeface="Calibri"/>
              </a:rPr>
              <a:t> </a:t>
            </a:r>
            <a:r>
              <a:rPr dirty="0" sz="2250" spc="65">
                <a:solidFill>
                  <a:srgbClr val="115652"/>
                </a:solidFill>
                <a:latin typeface="Calibri"/>
                <a:cs typeface="Calibri"/>
              </a:rPr>
              <a:t>represent</a:t>
            </a:r>
            <a:r>
              <a:rPr dirty="0" sz="2250" spc="210">
                <a:solidFill>
                  <a:srgbClr val="115652"/>
                </a:solidFill>
                <a:latin typeface="Calibri"/>
                <a:cs typeface="Calibri"/>
              </a:rPr>
              <a:t> </a:t>
            </a:r>
            <a:r>
              <a:rPr dirty="0" sz="2250" spc="95">
                <a:solidFill>
                  <a:srgbClr val="115652"/>
                </a:solidFill>
                <a:latin typeface="Calibri"/>
                <a:cs typeface="Calibri"/>
              </a:rPr>
              <a:t>Low</a:t>
            </a:r>
            <a:r>
              <a:rPr dirty="0" sz="2250" spc="220">
                <a:solidFill>
                  <a:srgbClr val="115652"/>
                </a:solidFill>
                <a:latin typeface="Calibri"/>
                <a:cs typeface="Calibri"/>
              </a:rPr>
              <a:t> </a:t>
            </a:r>
            <a:r>
              <a:rPr dirty="0" sz="2250" spc="120">
                <a:solidFill>
                  <a:srgbClr val="115652"/>
                </a:solidFill>
                <a:latin typeface="Calibri"/>
                <a:cs typeface="Calibri"/>
              </a:rPr>
              <a:t>Risk</a:t>
            </a:r>
            <a:r>
              <a:rPr dirty="0" sz="2250" spc="229">
                <a:solidFill>
                  <a:srgbClr val="115652"/>
                </a:solidFill>
                <a:latin typeface="Calibri"/>
                <a:cs typeface="Calibri"/>
              </a:rPr>
              <a:t> </a:t>
            </a:r>
            <a:r>
              <a:rPr dirty="0" sz="2250" spc="-25">
                <a:solidFill>
                  <a:srgbClr val="115652"/>
                </a:solidFill>
                <a:latin typeface="Calibri"/>
                <a:cs typeface="Calibri"/>
              </a:rPr>
              <a:t>or </a:t>
            </a:r>
            <a:r>
              <a:rPr dirty="0" sz="2250" spc="95">
                <a:solidFill>
                  <a:srgbClr val="115652"/>
                </a:solidFill>
                <a:latin typeface="Calibri"/>
                <a:cs typeface="Calibri"/>
              </a:rPr>
              <a:t>Blocked</a:t>
            </a:r>
            <a:r>
              <a:rPr dirty="0" sz="2250" spc="330">
                <a:solidFill>
                  <a:srgbClr val="115652"/>
                </a:solidFill>
                <a:latin typeface="Calibri"/>
                <a:cs typeface="Calibri"/>
              </a:rPr>
              <a:t> </a:t>
            </a:r>
            <a:r>
              <a:rPr dirty="0" sz="2250" spc="110">
                <a:solidFill>
                  <a:srgbClr val="115652"/>
                </a:solidFill>
                <a:latin typeface="Calibri"/>
                <a:cs typeface="Calibri"/>
              </a:rPr>
              <a:t>zones</a:t>
            </a:r>
            <a:r>
              <a:rPr dirty="0" sz="2250" spc="350">
                <a:solidFill>
                  <a:srgbClr val="115652"/>
                </a:solidFill>
                <a:latin typeface="Calibri"/>
                <a:cs typeface="Calibri"/>
              </a:rPr>
              <a:t> </a:t>
            </a:r>
            <a:r>
              <a:rPr dirty="0" sz="2250">
                <a:solidFill>
                  <a:srgbClr val="115652"/>
                </a:solidFill>
                <a:latin typeface="Calibri"/>
                <a:cs typeface="Calibri"/>
              </a:rPr>
              <a:t>(Water</a:t>
            </a:r>
            <a:r>
              <a:rPr dirty="0" sz="2250" spc="250">
                <a:solidFill>
                  <a:srgbClr val="115652"/>
                </a:solidFill>
                <a:latin typeface="Calibri"/>
                <a:cs typeface="Calibri"/>
              </a:rPr>
              <a:t> </a:t>
            </a:r>
            <a:r>
              <a:rPr dirty="0" sz="2250" spc="80">
                <a:solidFill>
                  <a:srgbClr val="115652"/>
                </a:solidFill>
                <a:latin typeface="Calibri"/>
                <a:cs typeface="Calibri"/>
              </a:rPr>
              <a:t>bodies)</a:t>
            </a:r>
            <a:r>
              <a:rPr dirty="0" sz="2250" spc="335">
                <a:solidFill>
                  <a:srgbClr val="115652"/>
                </a:solidFill>
                <a:latin typeface="Calibri"/>
                <a:cs typeface="Calibri"/>
              </a:rPr>
              <a:t> </a:t>
            </a:r>
            <a:r>
              <a:rPr dirty="0" sz="2250" spc="40">
                <a:solidFill>
                  <a:srgbClr val="115652"/>
                </a:solidFill>
                <a:latin typeface="Calibri"/>
                <a:cs typeface="Calibri"/>
              </a:rPr>
              <a:t>where </a:t>
            </a:r>
            <a:r>
              <a:rPr dirty="0" sz="2250">
                <a:solidFill>
                  <a:srgbClr val="115652"/>
                </a:solidFill>
                <a:latin typeface="Calibri"/>
                <a:cs typeface="Calibri"/>
              </a:rPr>
              <a:t>fire</a:t>
            </a:r>
            <a:r>
              <a:rPr dirty="0" sz="2250" spc="305">
                <a:solidFill>
                  <a:srgbClr val="115652"/>
                </a:solidFill>
                <a:latin typeface="Calibri"/>
                <a:cs typeface="Calibri"/>
              </a:rPr>
              <a:t> </a:t>
            </a:r>
            <a:r>
              <a:rPr dirty="0" sz="2250" spc="55">
                <a:solidFill>
                  <a:srgbClr val="115652"/>
                </a:solidFill>
                <a:latin typeface="Calibri"/>
                <a:cs typeface="Calibri"/>
              </a:rPr>
              <a:t>cannot</a:t>
            </a:r>
            <a:r>
              <a:rPr dirty="0" sz="2250" spc="380">
                <a:solidFill>
                  <a:srgbClr val="115652"/>
                </a:solidFill>
                <a:latin typeface="Calibri"/>
                <a:cs typeface="Calibri"/>
              </a:rPr>
              <a:t> </a:t>
            </a:r>
            <a:r>
              <a:rPr dirty="0" sz="2250" spc="75">
                <a:solidFill>
                  <a:srgbClr val="115652"/>
                </a:solidFill>
                <a:latin typeface="Calibri"/>
                <a:cs typeface="Calibri"/>
              </a:rPr>
              <a:t>spread</a:t>
            </a:r>
            <a:endParaRPr sz="22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96932" y="1559720"/>
            <a:ext cx="12679355" cy="806091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60"/>
              <a:t>User</a:t>
            </a:r>
            <a:r>
              <a:rPr dirty="0" spc="-330"/>
              <a:t> </a:t>
            </a:r>
            <a:r>
              <a:rPr dirty="0" spc="-60"/>
              <a:t>Interface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39625" y="1552520"/>
            <a:ext cx="9006344" cy="801045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536802" y="689552"/>
            <a:ext cx="2068195" cy="56832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550" spc="-135"/>
              <a:t>Test</a:t>
            </a:r>
            <a:r>
              <a:rPr dirty="0" sz="3550" spc="-355"/>
              <a:t> </a:t>
            </a:r>
            <a:r>
              <a:rPr dirty="0" sz="3550" spc="-55"/>
              <a:t>Data</a:t>
            </a:r>
            <a:endParaRPr sz="35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96343" y="2258280"/>
            <a:ext cx="9096374" cy="576262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17184" y="2592530"/>
            <a:ext cx="9448798" cy="580072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649533" y="1845350"/>
            <a:ext cx="6249035" cy="7416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700" spc="-125"/>
              <a:t>Generate</a:t>
            </a:r>
            <a:r>
              <a:rPr dirty="0" sz="4700" spc="-470"/>
              <a:t> </a:t>
            </a:r>
            <a:r>
              <a:rPr dirty="0" sz="4700" spc="-140"/>
              <a:t>Mask</a:t>
            </a:r>
            <a:r>
              <a:rPr dirty="0" sz="4700" spc="-465"/>
              <a:t> </a:t>
            </a:r>
            <a:r>
              <a:rPr dirty="0" sz="4700" spc="-25"/>
              <a:t>Result</a:t>
            </a:r>
            <a:endParaRPr sz="47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17474" y="711500"/>
            <a:ext cx="4048760" cy="588010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700" spc="-114"/>
              <a:t>Run</a:t>
            </a:r>
            <a:r>
              <a:rPr dirty="0" sz="3700" spc="-370"/>
              <a:t> </a:t>
            </a:r>
            <a:r>
              <a:rPr dirty="0" sz="3700" spc="-145"/>
              <a:t>Dijktra</a:t>
            </a:r>
            <a:r>
              <a:rPr dirty="0" sz="3700" spc="-370"/>
              <a:t> </a:t>
            </a:r>
            <a:r>
              <a:rPr dirty="0" sz="3700" spc="-30"/>
              <a:t>Result</a:t>
            </a:r>
            <a:endParaRPr sz="3700"/>
          </a:p>
        </p:txBody>
      </p:sp>
      <p:grpSp>
        <p:nvGrpSpPr>
          <p:cNvPr id="3" name="object 3" descr=""/>
          <p:cNvGrpSpPr/>
          <p:nvPr/>
        </p:nvGrpSpPr>
        <p:grpSpPr>
          <a:xfrm>
            <a:off x="2729258" y="1241916"/>
            <a:ext cx="12831445" cy="8289925"/>
            <a:chOff x="2729258" y="1241916"/>
            <a:chExt cx="12831445" cy="828992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29258" y="1241916"/>
              <a:ext cx="12830912" cy="8289591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2914224" y="7303417"/>
              <a:ext cx="2910840" cy="0"/>
            </a:xfrm>
            <a:custGeom>
              <a:avLst/>
              <a:gdLst/>
              <a:ahLst/>
              <a:cxnLst/>
              <a:rect l="l" t="t" r="r" b="b"/>
              <a:pathLst>
                <a:path w="2910840" h="0">
                  <a:moveTo>
                    <a:pt x="0" y="0"/>
                  </a:moveTo>
                  <a:lnTo>
                    <a:pt x="2910393" y="0"/>
                  </a:lnTo>
                </a:path>
              </a:pathLst>
            </a:custGeom>
            <a:ln w="29926">
              <a:solidFill>
                <a:srgbClr val="00BE6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2914212" y="7303701"/>
              <a:ext cx="30480" cy="1971039"/>
            </a:xfrm>
            <a:custGeom>
              <a:avLst/>
              <a:gdLst/>
              <a:ahLst/>
              <a:cxnLst/>
              <a:rect l="l" t="t" r="r" b="b"/>
              <a:pathLst>
                <a:path w="30480" h="1971040">
                  <a:moveTo>
                    <a:pt x="29925" y="0"/>
                  </a:moveTo>
                  <a:lnTo>
                    <a:pt x="0" y="1970959"/>
                  </a:lnTo>
                </a:path>
              </a:pathLst>
            </a:custGeom>
            <a:ln w="29926">
              <a:solidFill>
                <a:srgbClr val="00BE6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2914302" y="9289610"/>
              <a:ext cx="2880995" cy="15240"/>
            </a:xfrm>
            <a:custGeom>
              <a:avLst/>
              <a:gdLst/>
              <a:ahLst/>
              <a:cxnLst/>
              <a:rect l="l" t="t" r="r" b="b"/>
              <a:pathLst>
                <a:path w="2880995" h="15240">
                  <a:moveTo>
                    <a:pt x="0" y="14963"/>
                  </a:moveTo>
                  <a:lnTo>
                    <a:pt x="2880468" y="0"/>
                  </a:lnTo>
                </a:path>
              </a:pathLst>
            </a:custGeom>
            <a:ln w="29926">
              <a:solidFill>
                <a:srgbClr val="00BE6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5824586" y="7303584"/>
              <a:ext cx="7620" cy="1971675"/>
            </a:xfrm>
            <a:custGeom>
              <a:avLst/>
              <a:gdLst/>
              <a:ahLst/>
              <a:cxnLst/>
              <a:rect l="l" t="t" r="r" b="b"/>
              <a:pathLst>
                <a:path w="7620" h="1971675">
                  <a:moveTo>
                    <a:pt x="7481" y="0"/>
                  </a:moveTo>
                  <a:lnTo>
                    <a:pt x="0" y="1971095"/>
                  </a:lnTo>
                </a:path>
              </a:pathLst>
            </a:custGeom>
            <a:ln w="29926">
              <a:solidFill>
                <a:srgbClr val="00BE6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82245" y="2256509"/>
            <a:ext cx="1100455" cy="2755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650" spc="-10">
                <a:solidFill>
                  <a:srgbClr val="135954"/>
                </a:solidFill>
                <a:latin typeface="Arial MT"/>
                <a:cs typeface="Arial MT"/>
              </a:rPr>
              <a:t>SUMMARY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12661" y="2681131"/>
            <a:ext cx="3558540" cy="866140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5500" spc="-10">
                <a:solidFill>
                  <a:srgbClr val="115652"/>
                </a:solidFill>
                <a:latin typeface="Arial MT"/>
                <a:cs typeface="Arial MT"/>
              </a:rPr>
              <a:t>Conclusion</a:t>
            </a:r>
            <a:endParaRPr sz="55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9685" marR="47625" indent="3810">
              <a:lnSpc>
                <a:spcPct val="114599"/>
              </a:lnSpc>
              <a:spcBef>
                <a:spcPts val="90"/>
              </a:spcBef>
              <a:tabLst>
                <a:tab pos="2324100" algn="l"/>
              </a:tabLst>
            </a:pPr>
            <a:r>
              <a:rPr dirty="0"/>
              <a:t>The</a:t>
            </a:r>
            <a:r>
              <a:rPr dirty="0" spc="-50"/>
              <a:t> </a:t>
            </a:r>
            <a:r>
              <a:rPr dirty="0" spc="-45"/>
              <a:t>Graph-</a:t>
            </a:r>
            <a:r>
              <a:rPr dirty="0" spc="-10"/>
              <a:t>Based</a:t>
            </a:r>
            <a:r>
              <a:rPr dirty="0"/>
              <a:t>	Wildfire</a:t>
            </a:r>
            <a:r>
              <a:rPr dirty="0" spc="55"/>
              <a:t> </a:t>
            </a:r>
            <a:r>
              <a:rPr dirty="0" spc="-10"/>
              <a:t>Spread</a:t>
            </a:r>
            <a:r>
              <a:rPr dirty="0" spc="30"/>
              <a:t> </a:t>
            </a:r>
            <a:r>
              <a:rPr dirty="0" spc="-10"/>
              <a:t>Simulation</a:t>
            </a:r>
            <a:r>
              <a:rPr dirty="0" spc="125"/>
              <a:t> </a:t>
            </a:r>
            <a:r>
              <a:rPr dirty="0"/>
              <a:t>System</a:t>
            </a:r>
            <a:r>
              <a:rPr dirty="0" spc="125"/>
              <a:t> </a:t>
            </a:r>
            <a:r>
              <a:rPr dirty="0"/>
              <a:t>successfully</a:t>
            </a:r>
            <a:r>
              <a:rPr dirty="0" spc="200"/>
              <a:t> </a:t>
            </a:r>
            <a:r>
              <a:rPr dirty="0"/>
              <a:t>demonstrates</a:t>
            </a:r>
            <a:r>
              <a:rPr dirty="0" spc="90"/>
              <a:t> </a:t>
            </a:r>
            <a:r>
              <a:rPr dirty="0"/>
              <a:t>how</a:t>
            </a:r>
            <a:r>
              <a:rPr dirty="0" spc="60"/>
              <a:t> </a:t>
            </a:r>
            <a:r>
              <a:rPr dirty="0" spc="-10"/>
              <a:t>Graph</a:t>
            </a:r>
            <a:r>
              <a:rPr dirty="0" spc="80"/>
              <a:t> </a:t>
            </a:r>
            <a:r>
              <a:rPr dirty="0"/>
              <a:t>Abstract</a:t>
            </a:r>
            <a:r>
              <a:rPr dirty="0" spc="110"/>
              <a:t> </a:t>
            </a:r>
            <a:r>
              <a:rPr dirty="0" spc="-20"/>
              <a:t>Data</a:t>
            </a:r>
            <a:r>
              <a:rPr dirty="0" spc="60"/>
              <a:t> </a:t>
            </a:r>
            <a:r>
              <a:rPr dirty="0"/>
              <a:t>Type</a:t>
            </a:r>
            <a:r>
              <a:rPr dirty="0" spc="-5"/>
              <a:t> </a:t>
            </a:r>
            <a:r>
              <a:rPr dirty="0"/>
              <a:t>and</a:t>
            </a:r>
            <a:r>
              <a:rPr dirty="0" spc="-55"/>
              <a:t> </a:t>
            </a:r>
            <a:r>
              <a:rPr dirty="0"/>
              <a:t>Dijkstra's</a:t>
            </a:r>
            <a:r>
              <a:rPr dirty="0" spc="50"/>
              <a:t> </a:t>
            </a:r>
            <a:r>
              <a:rPr dirty="0" spc="-10"/>
              <a:t>algorithm </a:t>
            </a:r>
            <a:r>
              <a:rPr dirty="0"/>
              <a:t>can</a:t>
            </a:r>
            <a:r>
              <a:rPr dirty="0" spc="55"/>
              <a:t> </a:t>
            </a:r>
            <a:r>
              <a:rPr dirty="0"/>
              <a:t>be</a:t>
            </a:r>
            <a:r>
              <a:rPr dirty="0" spc="35"/>
              <a:t> </a:t>
            </a:r>
            <a:r>
              <a:rPr dirty="0"/>
              <a:t>applied</a:t>
            </a:r>
            <a:r>
              <a:rPr dirty="0" spc="55"/>
              <a:t> </a:t>
            </a:r>
            <a:r>
              <a:rPr dirty="0"/>
              <a:t>to</a:t>
            </a:r>
            <a:r>
              <a:rPr dirty="0" spc="80"/>
              <a:t> </a:t>
            </a:r>
            <a:r>
              <a:rPr dirty="0"/>
              <a:t>solve</a:t>
            </a:r>
            <a:r>
              <a:rPr dirty="0" spc="55"/>
              <a:t> </a:t>
            </a:r>
            <a:r>
              <a:rPr dirty="0"/>
              <a:t>a</a:t>
            </a:r>
            <a:r>
              <a:rPr dirty="0" spc="75"/>
              <a:t> </a:t>
            </a:r>
            <a:r>
              <a:rPr dirty="0"/>
              <a:t>real-world</a:t>
            </a:r>
            <a:r>
              <a:rPr dirty="0" spc="100"/>
              <a:t> </a:t>
            </a:r>
            <a:r>
              <a:rPr dirty="0" spc="-10"/>
              <a:t>environmental</a:t>
            </a:r>
            <a:r>
              <a:rPr dirty="0" spc="260"/>
              <a:t> </a:t>
            </a:r>
            <a:r>
              <a:rPr dirty="0" spc="-10"/>
              <a:t>problem.</a:t>
            </a:r>
          </a:p>
          <a:p>
            <a:pPr marL="12700" marR="5080" indent="11430">
              <a:lnSpc>
                <a:spcPct val="117300"/>
              </a:lnSpc>
              <a:spcBef>
                <a:spcPts val="2385"/>
              </a:spcBef>
            </a:pPr>
            <a:r>
              <a:rPr dirty="0" sz="2150"/>
              <a:t>Through</a:t>
            </a:r>
            <a:r>
              <a:rPr dirty="0" sz="2150" spc="270"/>
              <a:t> </a:t>
            </a:r>
            <a:r>
              <a:rPr dirty="0" sz="2150"/>
              <a:t>this</a:t>
            </a:r>
            <a:r>
              <a:rPr dirty="0" sz="2150" spc="200"/>
              <a:t> </a:t>
            </a:r>
            <a:r>
              <a:rPr dirty="0" sz="2150"/>
              <a:t>project</a:t>
            </a:r>
            <a:r>
              <a:rPr dirty="0" sz="2150" spc="400"/>
              <a:t> </a:t>
            </a:r>
            <a:r>
              <a:rPr dirty="0" sz="2150"/>
              <a:t>we</a:t>
            </a:r>
            <a:r>
              <a:rPr dirty="0" sz="2150" spc="280"/>
              <a:t> </a:t>
            </a:r>
            <a:r>
              <a:rPr dirty="0" sz="2150"/>
              <a:t>gained</a:t>
            </a:r>
            <a:r>
              <a:rPr dirty="0" sz="2150" spc="300"/>
              <a:t> </a:t>
            </a:r>
            <a:r>
              <a:rPr dirty="0" sz="2150"/>
              <a:t>practical</a:t>
            </a:r>
            <a:r>
              <a:rPr dirty="0" sz="2150" spc="345"/>
              <a:t> </a:t>
            </a:r>
            <a:r>
              <a:rPr dirty="0" sz="2150"/>
              <a:t>experience</a:t>
            </a:r>
            <a:r>
              <a:rPr dirty="0" sz="2150" spc="335"/>
              <a:t> </a:t>
            </a:r>
            <a:r>
              <a:rPr dirty="0" sz="2150"/>
              <a:t>in</a:t>
            </a:r>
            <a:r>
              <a:rPr dirty="0" sz="2150" spc="90"/>
              <a:t> </a:t>
            </a:r>
            <a:r>
              <a:rPr dirty="0" sz="2150"/>
              <a:t>image</a:t>
            </a:r>
            <a:r>
              <a:rPr dirty="0" sz="2150" spc="280"/>
              <a:t> </a:t>
            </a:r>
            <a:r>
              <a:rPr dirty="0" sz="2150"/>
              <a:t>processing,</a:t>
            </a:r>
            <a:r>
              <a:rPr dirty="0" sz="2150" spc="335"/>
              <a:t> </a:t>
            </a:r>
            <a:r>
              <a:rPr dirty="0" sz="2150"/>
              <a:t>graph</a:t>
            </a:r>
            <a:r>
              <a:rPr dirty="0" sz="2150" spc="250"/>
              <a:t> </a:t>
            </a:r>
            <a:r>
              <a:rPr dirty="0" sz="2150"/>
              <a:t>construction,</a:t>
            </a:r>
            <a:r>
              <a:rPr dirty="0" sz="2150" spc="310"/>
              <a:t> </a:t>
            </a:r>
            <a:r>
              <a:rPr dirty="0" sz="2150"/>
              <a:t>algorithm</a:t>
            </a:r>
            <a:r>
              <a:rPr dirty="0" sz="2150" spc="310"/>
              <a:t> </a:t>
            </a:r>
            <a:r>
              <a:rPr dirty="0" sz="2150"/>
              <a:t>implementation,</a:t>
            </a:r>
            <a:r>
              <a:rPr dirty="0" sz="2150" spc="150"/>
              <a:t> </a:t>
            </a:r>
            <a:r>
              <a:rPr dirty="0" sz="2150"/>
              <a:t>and</a:t>
            </a:r>
            <a:r>
              <a:rPr dirty="0" sz="2150" spc="200"/>
              <a:t> </a:t>
            </a:r>
            <a:r>
              <a:rPr dirty="0" sz="2150"/>
              <a:t>building</a:t>
            </a:r>
            <a:r>
              <a:rPr dirty="0" sz="2150" spc="335"/>
              <a:t> </a:t>
            </a:r>
            <a:r>
              <a:rPr dirty="0" sz="2150" spc="-25"/>
              <a:t>an </a:t>
            </a:r>
            <a:r>
              <a:rPr dirty="0" sz="2150"/>
              <a:t>interactive</a:t>
            </a:r>
            <a:r>
              <a:rPr dirty="0" sz="2150" spc="465"/>
              <a:t> </a:t>
            </a:r>
            <a:r>
              <a:rPr dirty="0" sz="2150"/>
              <a:t>desktop</a:t>
            </a:r>
            <a:r>
              <a:rPr dirty="0" sz="2150" spc="335"/>
              <a:t> </a:t>
            </a:r>
            <a:r>
              <a:rPr dirty="0" sz="2150" spc="-10"/>
              <a:t>application.</a:t>
            </a:r>
            <a:endParaRPr sz="2150"/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sz="2150"/>
          </a:p>
          <a:p>
            <a:pPr marL="24130">
              <a:lnSpc>
                <a:spcPct val="100000"/>
              </a:lnSpc>
            </a:pPr>
            <a:r>
              <a:rPr dirty="0" sz="2100"/>
              <a:t>The</a:t>
            </a:r>
            <a:r>
              <a:rPr dirty="0" sz="2100" spc="375"/>
              <a:t> </a:t>
            </a:r>
            <a:r>
              <a:rPr dirty="0" sz="2100"/>
              <a:t>system</a:t>
            </a:r>
            <a:r>
              <a:rPr dirty="0" sz="2100" spc="320"/>
              <a:t> </a:t>
            </a:r>
            <a:r>
              <a:rPr dirty="0" sz="2100"/>
              <a:t>provides</a:t>
            </a:r>
            <a:r>
              <a:rPr dirty="0" sz="2100" spc="365"/>
              <a:t> </a:t>
            </a:r>
            <a:r>
              <a:rPr dirty="0" sz="2100"/>
              <a:t>a</a:t>
            </a:r>
            <a:r>
              <a:rPr dirty="0" sz="2100" spc="405"/>
              <a:t> </a:t>
            </a:r>
            <a:r>
              <a:rPr dirty="0" sz="2100"/>
              <a:t>strong</a:t>
            </a:r>
            <a:r>
              <a:rPr dirty="0" sz="2100" spc="345"/>
              <a:t> </a:t>
            </a:r>
            <a:r>
              <a:rPr dirty="0" sz="2100"/>
              <a:t>foundation</a:t>
            </a:r>
            <a:r>
              <a:rPr dirty="0" sz="2100" spc="405"/>
              <a:t> </a:t>
            </a:r>
            <a:r>
              <a:rPr dirty="0" sz="2100"/>
              <a:t>that</a:t>
            </a:r>
            <a:r>
              <a:rPr dirty="0" sz="2100" spc="355"/>
              <a:t> </a:t>
            </a:r>
            <a:r>
              <a:rPr dirty="0" sz="2100"/>
              <a:t>can</a:t>
            </a:r>
            <a:r>
              <a:rPr dirty="0" sz="2100" spc="260"/>
              <a:t> </a:t>
            </a:r>
            <a:r>
              <a:rPr dirty="0" sz="2100"/>
              <a:t>be</a:t>
            </a:r>
            <a:r>
              <a:rPr dirty="0" sz="2100" spc="325"/>
              <a:t> </a:t>
            </a:r>
            <a:r>
              <a:rPr dirty="0" sz="2100"/>
              <a:t>extended</a:t>
            </a:r>
            <a:r>
              <a:rPr dirty="0" sz="2100" spc="340"/>
              <a:t> </a:t>
            </a:r>
            <a:r>
              <a:rPr dirty="0" sz="2100"/>
              <a:t>in</a:t>
            </a:r>
            <a:r>
              <a:rPr dirty="0" sz="2100" spc="120"/>
              <a:t> </a:t>
            </a:r>
            <a:r>
              <a:rPr dirty="0" sz="2100" spc="50"/>
              <a:t>the</a:t>
            </a:r>
            <a:r>
              <a:rPr dirty="0" sz="2100" spc="250"/>
              <a:t> </a:t>
            </a:r>
            <a:r>
              <a:rPr dirty="0" sz="2100" spc="55"/>
              <a:t>future</a:t>
            </a:r>
            <a:r>
              <a:rPr dirty="0" sz="2100" spc="390"/>
              <a:t> </a:t>
            </a:r>
            <a:r>
              <a:rPr dirty="0" sz="2100"/>
              <a:t>with</a:t>
            </a:r>
            <a:r>
              <a:rPr dirty="0" sz="2100" spc="290"/>
              <a:t> </a:t>
            </a:r>
            <a:r>
              <a:rPr dirty="0" sz="2100"/>
              <a:t>more</a:t>
            </a:r>
            <a:r>
              <a:rPr dirty="0" sz="2100" spc="295"/>
              <a:t> </a:t>
            </a:r>
            <a:r>
              <a:rPr dirty="0" sz="2100"/>
              <a:t>advanced</a:t>
            </a:r>
            <a:r>
              <a:rPr dirty="0" sz="2100" spc="355"/>
              <a:t> </a:t>
            </a:r>
            <a:r>
              <a:rPr dirty="0" sz="2100" spc="-10"/>
              <a:t>features.</a:t>
            </a:r>
            <a:endParaRPr sz="2100"/>
          </a:p>
        </p:txBody>
      </p:sp>
      <p:sp>
        <p:nvSpPr>
          <p:cNvPr id="5" name="object 5" descr=""/>
          <p:cNvSpPr txBox="1"/>
          <p:nvPr/>
        </p:nvSpPr>
        <p:spPr>
          <a:xfrm>
            <a:off x="7785431" y="7906021"/>
            <a:ext cx="2589530" cy="7061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4450" spc="-35">
                <a:solidFill>
                  <a:srgbClr val="115652"/>
                </a:solidFill>
                <a:latin typeface="Arial MT"/>
                <a:cs typeface="Arial MT"/>
              </a:rPr>
              <a:t>Thank</a:t>
            </a:r>
            <a:r>
              <a:rPr dirty="0" sz="4450" spc="-275">
                <a:solidFill>
                  <a:srgbClr val="115652"/>
                </a:solidFill>
                <a:latin typeface="Arial MT"/>
                <a:cs typeface="Arial MT"/>
              </a:rPr>
              <a:t> </a:t>
            </a:r>
            <a:r>
              <a:rPr dirty="0" sz="4450" spc="-350">
                <a:solidFill>
                  <a:srgbClr val="115652"/>
                </a:solidFill>
                <a:latin typeface="Arial MT"/>
                <a:cs typeface="Arial MT"/>
              </a:rPr>
              <a:t>You</a:t>
            </a:r>
            <a:endParaRPr sz="44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Ayomide Oduwole</dc:creator>
  <cp:keywords>DAHI6WhtwCw,BAFLoPPECsY,0</cp:keywords>
  <dc:title>Your paragraph text</dc:title>
  <dcterms:created xsi:type="dcterms:W3CDTF">2026-05-07T11:04:40Z</dcterms:created>
  <dcterms:modified xsi:type="dcterms:W3CDTF">2026-05-07T11:04:40Z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2026-05-06T00:00:00Z</vt:filetime>
  </property>
  <property fmtid="{D5CDD505-2E9C-101B-9397-08002B2CF9AE}" pid="3" name="Creator">
    <vt:lpwstr>Canva</vt:lpwstr>
  </property>
  <property fmtid="{D5CDD505-2E9C-101B-9397-08002B2CF9AE}" pid="4" name="LastSaved">
    <vt:filetime>2026-05-07T00:00:00Z</vt:filetime>
  </property>
  <property fmtid="{D5CDD505-2E9C-101B-9397-08002B2CF9AE}" pid="5" name="Producer">
    <vt:lpwstr>Canva</vt:lpwstr>
  </property>
</Properties>
</file>